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handoutMasterIdLst>
    <p:handoutMasterId r:id="rId17"/>
  </p:handoutMasterIdLst>
  <p:sldIdLst>
    <p:sldId id="256" r:id="rId5"/>
    <p:sldId id="257" r:id="rId6"/>
    <p:sldId id="258" r:id="rId7"/>
    <p:sldId id="1577" r:id="rId8"/>
    <p:sldId id="1578" r:id="rId9"/>
    <p:sldId id="1579" r:id="rId10"/>
    <p:sldId id="1580" r:id="rId11"/>
    <p:sldId id="1581" r:id="rId12"/>
    <p:sldId id="263" r:id="rId13"/>
    <p:sldId id="261" r:id="rId14"/>
    <p:sldId id="15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2F3"/>
    <a:srgbClr val="EFF0F1"/>
    <a:srgbClr val="E9ECEF"/>
    <a:srgbClr val="EDEFEF"/>
    <a:srgbClr val="F9FAFA"/>
    <a:srgbClr val="D5D7D7"/>
    <a:srgbClr val="AFB7B7"/>
    <a:srgbClr val="2A38D5"/>
    <a:srgbClr val="09090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E2551F-75C5-3F0B-F6EB-6591EB8ED455}" v="4377" dt="2026-02-21T12:20:35.593"/>
    <p1510:client id="{9712693B-467D-3325-C3C8-C2784D6B3E62}" v="234" dt="2026-02-21T16:58:38.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16"/>
    <p:restoredTop sz="94726"/>
  </p:normalViewPr>
  <p:slideViewPr>
    <p:cSldViewPr snapToGrid="0">
      <p:cViewPr>
        <p:scale>
          <a:sx n="100" d="100"/>
          <a:sy n="100" d="100"/>
        </p:scale>
        <p:origin x="-48" y="58"/>
      </p:cViewPr>
      <p:guideLst/>
    </p:cSldViewPr>
  </p:slideViewPr>
  <p:notesTextViewPr>
    <p:cViewPr>
      <p:scale>
        <a:sx n="3" d="2"/>
        <a:sy n="3" d="2"/>
      </p:scale>
      <p:origin x="0" y="0"/>
    </p:cViewPr>
  </p:notesTextViewPr>
  <p:sorterViewPr>
    <p:cViewPr>
      <p:scale>
        <a:sx n="100" d="100"/>
        <a:sy n="100" d="100"/>
      </p:scale>
      <p:origin x="0" y="-1834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2/21/2026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1761072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80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389844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anchor="b">
            <a:normAutofit/>
          </a:bodyPr>
          <a:lstStyle>
            <a:lvl1pPr algn="l">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90A7993E-BF8D-483D-835F-218BE3FC2648}"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anchor="b">
            <a:normAutofit/>
          </a:bodyPr>
          <a:lstStyle>
            <a:lvl1pPr algn="l">
              <a:defRPr sz="36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0"/>
            <a:ext cx="12191999" cy="4944351"/>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0A5881F7-61E7-464A-B25B-D06EF371E7BB}" type="datetime1">
              <a:rPr lang="en-US" smtClean="0"/>
              <a:t>2/21/2026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userDrawn="1"/>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anchor="t">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5766" y="0"/>
            <a:ext cx="6663325"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6EAE0971-16E1-4804-BCF7-2D4AE159BC5F}"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userDrawn="1"/>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anchor="t">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029201" y="0"/>
            <a:ext cx="7162800"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5017E961-8070-4076-BC89-E9A21E8B1DDB}" type="datetime1">
              <a:rPr lang="en-US" smtClean="0"/>
              <a:t>2/21/2026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6D593C-5636-A3D4-D0B4-7C5D4B4D6957}"/>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lumMod val="20000"/>
                    <a:lumOff val="8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F34549CE-172D-4858-ACF7-34679969C52A}"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userDrawn="1">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34549CE-172D-4858-ACF7-34679969C52A}" type="datetime1">
              <a:rPr lang="en-US" smtClean="0"/>
              <a:pPr/>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userDrawn="1">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6" y="3231931"/>
            <a:ext cx="5200938"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7E5ED5B-F431-4291-9350-DE25B4E24A2B}" type="datetime1">
              <a:rPr lang="en-US" smtClean="0"/>
              <a:t>2/21/2026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62925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p:nvPr>
        </p:nvSpPr>
        <p:spPr>
          <a:xfrm>
            <a:off x="0" y="2892425"/>
            <a:ext cx="5888421" cy="3965575"/>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07E5ED5B-F431-4291-9350-DE25B4E24A2B}" type="datetime1">
              <a:rPr lang="en-US" smtClean="0"/>
              <a:t>2/21/2026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232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7"/>
            <a:ext cx="11924209" cy="5621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A1E9370-9C4A-4A34-917A-E6D78BC68C7C}"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78562" y="413752"/>
            <a:ext cx="11479378" cy="6030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A0AAD6C-AC8D-431F-8590-AA5F2823E2A7}"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477290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userDrawn="1"/>
        </p:nvSpPr>
        <p:spPr>
          <a:xfrm>
            <a:off x="5158292" y="0"/>
            <a:ext cx="703370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EDC2E61-84D8-4124-A60F-8C1591231F2F}"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userDrawn="1"/>
        </p:nvSpPr>
        <p:spPr>
          <a:xfrm>
            <a:off x="1" y="0"/>
            <a:ext cx="4998404" cy="6858000"/>
          </a:xfrm>
          <a:prstGeom prst="rect">
            <a:avLst/>
          </a:prstGeom>
          <a:ln>
            <a:noFill/>
          </a:ln>
          <a:effectLst>
            <a:outerShdw blurRad="304800" dist="508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D86AB-AC02-447A-B1D9-D29255284012}"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userDrawn="1"/>
        </p:nvSpPr>
        <p:spPr>
          <a:xfrm>
            <a:off x="4998404" y="0"/>
            <a:ext cx="7193595"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56CB269-0EA9-4840-8B00-D6F4D5623A66}"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userDrawn="1"/>
        </p:nvSpPr>
        <p:spPr>
          <a:xfrm>
            <a:off x="0" y="1"/>
            <a:ext cx="4998404" cy="6858000"/>
          </a:xfrm>
          <a:prstGeom prst="rect">
            <a:avLst/>
          </a:prstGeom>
          <a:ln>
            <a:noFill/>
          </a:ln>
          <a:effectLst>
            <a:outerShdw blurRad="292100" dist="254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32CF09-9C6A-488F-912B-7484594F36CA}"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8">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userDrawn="1"/>
        </p:nvSpPr>
        <p:spPr>
          <a:xfrm>
            <a:off x="0" y="0"/>
            <a:ext cx="3973690" cy="6858000"/>
          </a:xfrm>
          <a:prstGeom prst="rect">
            <a:avLst/>
          </a:prstGeom>
          <a:ln>
            <a:noFill/>
          </a:ln>
          <a:effectLst>
            <a:outerShdw blurRad="254000" dist="25400" dir="540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287984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userDrawn="1"/>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1040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CE4FD0D0-EFA3-4773-9A17-8984A9F3894E}" type="datetime1">
              <a:rPr lang="en-US" smtClean="0"/>
              <a:t>2/21/2026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userDrawn="1"/>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userDrawn="1"/>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1EDE0F73-15D4-4675-AC83-2116B6713E0D}" type="datetime1">
              <a:rPr lang="en-US" smtClean="0"/>
              <a:t>2/21/2026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userDrawn="1"/>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930"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0A2676FB-3D7D-40C8-BF49-5420830A3578}" type="datetime1">
              <a:rPr lang="en-US" smtClean="0"/>
              <a:t>2/21/2026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userDrawn="1"/>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4509B7BD-ED9F-4BE8-9CB0-6580F3DA5AD9}" type="datetime1">
              <a:rPr lang="en-US" smtClean="0"/>
              <a:t>2/21/2026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userDrawn="1"/>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721068"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D1E4CDFE-4149-497F-9AB2-FC1DA668517A}" type="datetime1">
              <a:rPr lang="en-US" smtClean="0"/>
              <a:pPr/>
              <a:t>2/21/2026</a:t>
            </a:fld>
            <a:endParaRPr lang="en-US" dirty="0"/>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userDrawn="1"/>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530A2420-C19C-4EDE-B6F5-403698632D18}"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userDrawn="1"/>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9E86C564-3F7A-4713-A853-F25E5506815F}"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userDrawn="1"/>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754272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AAF53DBC-D325-47EB-9AE2-DBA8CFEB104F}" type="datetime1">
              <a:rPr lang="en-US" smtClean="0"/>
              <a:t>2/21/2026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userDrawn="1"/>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userDrawn="1"/>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17CB1A90-8BC5-45FC-8522-57E9740F0D09}"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Tree>
    <p:extLst>
      <p:ext uri="{BB962C8B-B14F-4D97-AF65-F5344CB8AC3E}">
        <p14:creationId xmlns:p14="http://schemas.microsoft.com/office/powerpoint/2010/main" val="21271898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userDrawn="1"/>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820774"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B3B5E29B-D4CF-40DB-8415-CDEF746A4884}"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userDrawn="1"/>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12192000" cy="4635132"/>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A0EB0-1A85-4415-B0DD-DB56CB89A1A3}"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userDrawn="1"/>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39A7FB-F6CB-4A83-AB01-DE96AD12BDE0}"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1347108"/>
            <a:ext cx="6831915" cy="5510891"/>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D43F2FFC-4D61-478E-A5DA-B134F1C3F459}"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0" y="0"/>
            <a:ext cx="5565422"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2" y="2175642"/>
            <a:ext cx="4380271" cy="4124756"/>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7EF4E6-0835-4A9E-AB77-03E72BA07261}" type="datetime1">
              <a:rPr lang="en-US" smtClean="0"/>
              <a:t>2/21/2026</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97483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1" y="0"/>
            <a:ext cx="5584207"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2175642"/>
            <a:ext cx="5584206" cy="4682358"/>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A77EF4E6-0835-4A9E-AB77-03E72BA07261}"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293701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userDrawn="1"/>
        </p:nvSpPr>
        <p:spPr>
          <a:xfrm>
            <a:off x="1" y="-1"/>
            <a:ext cx="4612921" cy="6858001"/>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3" y="2295144"/>
            <a:ext cx="3515063" cy="4005253"/>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621BA2-1729-4125-80E1-73B10B108A05}" type="datetime1">
              <a:rPr lang="en-US" smtClean="0"/>
              <a:t>2/21/2026</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0CD10E-DCDC-D077-124D-D9AD1F8B1CF2}"/>
              </a:ext>
              <a:ext uri="{C183D7F6-B498-43B3-948B-1728B52AA6E4}">
                <adec:decorative xmlns:adec="http://schemas.microsoft.com/office/drawing/2017/decorative" val="1"/>
              </a:ext>
            </a:extLst>
          </p:cNvPr>
          <p:cNvSpPr/>
          <p:nvPr userDrawn="1"/>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1075198"/>
            <a:ext cx="7064188" cy="4707604"/>
          </a:xfrm>
        </p:spPr>
        <p:txBody>
          <a:bodyPr anchor="ctr">
            <a:normAutofit/>
          </a:bodyPr>
          <a:lstStyle>
            <a:lvl1pPr algn="ctr">
              <a:defRPr sz="225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12740" y="1487780"/>
            <a:ext cx="3193022" cy="3882441"/>
          </a:xfrm>
        </p:spPr>
        <p:txBody>
          <a:bodyPr anchor="ctr">
            <a:normAutofit/>
          </a:bodyPr>
          <a:lstStyle>
            <a:lvl1pPr marL="0" indent="0" algn="l">
              <a:lnSpc>
                <a:spcPct val="110000"/>
              </a:lnSpc>
              <a:buNone/>
              <a:defRPr sz="2800" cap="none"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D87098E-FA98-43EB-9FC8-AACA19803591}"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2">
    <p:bg>
      <p:bgRef idx="1001">
        <a:schemeClr val="bg1"/>
      </p:bgRef>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A375349-64D8-04FF-E6A4-A9F3EA3F3B83}"/>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201266"/>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048443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834E64F7-E11B-F55A-F8C7-2938BC5485B0}"/>
              </a:ext>
              <a:ext uri="{C183D7F6-B498-43B3-948B-1728B52AA6E4}">
                <adec:decorative xmlns:adec="http://schemas.microsoft.com/office/drawing/2017/decorative" val="1"/>
              </a:ext>
            </a:extLst>
          </p:cNvPr>
          <p:cNvSpPr/>
          <p:nvPr userDrawn="1"/>
        </p:nvSpPr>
        <p:spPr>
          <a:xfrm>
            <a:off x="1" y="0"/>
            <a:ext cx="12191999" cy="4939393"/>
          </a:xfrm>
          <a:prstGeom prst="rect">
            <a:avLst/>
          </a:prstGeom>
          <a:solidFill>
            <a:schemeClr val="tx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bg2"/>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321789"/>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userDrawn="1"/>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BEDB6B-97AA-46A7-9A9F-DF3F9C8FC710}" type="datetime1">
              <a:rPr lang="en-US" smtClean="0"/>
              <a:pPr/>
              <a:t>2/21/2026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510607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tatement 3">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B9B519-1D75-197C-822E-7971723CEFF9}"/>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7EB50A41-BBB0-4E99-933A-0D54E921223C}" type="datetime1">
              <a:rPr lang="en-US" smtClean="0"/>
              <a:pPr/>
              <a:t>2/21/2026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26402652"/>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42E0AEC-8368-EAD3-F78A-8DD00AD5F4BD}"/>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334072" y="706212"/>
            <a:ext cx="9473189" cy="3526971"/>
          </a:xfrm>
        </p:spPr>
        <p:txBody>
          <a:bodyPr anchor="ctr">
            <a:normAutofit/>
          </a:bodyPr>
          <a:lstStyle>
            <a:lvl1pPr marL="173736" indent="-173736" algn="l">
              <a:lnSpc>
                <a:spcPct val="100000"/>
              </a:lnSpc>
              <a:defRPr sz="5400" b="0">
                <a:solidFill>
                  <a:schemeClr val="accent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518800" y="5592286"/>
            <a:ext cx="8991270" cy="612820"/>
          </a:xfrm>
        </p:spPr>
        <p:txBody>
          <a:bodyPr anchor="ctr">
            <a:normAutofit/>
          </a:bodyPr>
          <a:lstStyle>
            <a:lvl1pPr marL="0" indent="0" algn="l">
              <a:buNone/>
              <a:defRPr sz="22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91AEBA9-38A4-4A5F-86B3-1B3385D5906B}"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0835389-478C-7F74-F6E0-89AF30735CF5}"/>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94270"/>
            <a:ext cx="9116569" cy="3781168"/>
          </a:xfrm>
        </p:spPr>
        <p:txBody>
          <a:bodyPr anchor="t">
            <a:normAutofit/>
          </a:bodyPr>
          <a:lstStyle>
            <a:lvl1pPr marL="173736" indent="-173736" algn="l">
              <a:lnSpc>
                <a:spcPct val="100000"/>
              </a:lnSpc>
              <a:defRPr sz="4400" b="0">
                <a:solidFill>
                  <a:schemeClr val="tx2"/>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04982" y="5520007"/>
            <a:ext cx="8968785" cy="757379"/>
          </a:xfrm>
        </p:spPr>
        <p:txBody>
          <a:bodyPr anchor="ctr">
            <a:normAutofit/>
          </a:bodyPr>
          <a:lstStyle>
            <a:lvl1pPr marL="0" indent="0" algn="l">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7436DFB-2C6F-4036-AEBC-4AAB690F37DF}"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Quote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272016" cy="3291840"/>
          </a:xfrm>
        </p:spPr>
        <p:txBody>
          <a:bodyPr anchor="ctr">
            <a:normAutofit/>
          </a:bodyPr>
          <a:lstStyle>
            <a:lvl1pPr marL="155448" indent="-155448"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47397" y="5349240"/>
            <a:ext cx="9088027" cy="466344"/>
          </a:xfrm>
        </p:spPr>
        <p:txBody>
          <a:bodyPr anchor="ctr">
            <a:normAutofit/>
          </a:bodyPr>
          <a:lstStyle>
            <a:lvl1pPr marL="0" indent="0" algn="l">
              <a:buNone/>
              <a:defRPr sz="2200" b="1">
                <a:solidFill>
                  <a:schemeClr val="accent1">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B3A76E-6AB8-4A60-98AF-4814163FD320}"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57199" y="1663264"/>
            <a:ext cx="5218931"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663264"/>
            <a:ext cx="5181600"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91D92A-FD65-4630-8EF9-DCFDE3EFD6C4}"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595300"/>
            <a:ext cx="5262890"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457199" y="2271365"/>
            <a:ext cx="5262891"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95300"/>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271365"/>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4373491-7B77-49C6-AD2D-C13ED48C2EBA}" type="datetime1">
              <a:rPr lang="en-US" smtClean="0"/>
              <a:t>2/21/2026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7FDED9-56B8-4F05-AB54-2CC756DCB8EE}" type="datetime1">
              <a:rPr lang="en-US" smtClean="0"/>
              <a:t>2/21/2026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5466C3F-BF2A-44FE-B216-339938B7BC3B}" type="datetime1">
              <a:rPr lang="en-US" smtClean="0"/>
              <a:t>2/21/2026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userDrawn="1"/>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EDF8AE2-251E-4D0E-B879-45475D6F38C8}" type="datetime1">
              <a:rPr lang="en-US" smtClean="0"/>
              <a:t>2/21/2026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userDrawn="1"/>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C8E2833-867D-45B3-9E62-3A71290884E3}" type="datetime1">
              <a:rPr lang="en-US" smtClean="0"/>
              <a:t>2/21/2026</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63207" y="557785"/>
            <a:ext cx="6471008" cy="5742430"/>
          </a:xfr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66311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clus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16F33D-BC3B-B205-F219-8E637AE65197}"/>
              </a:ext>
            </a:extLst>
          </p:cNvPr>
          <p:cNvSpPr/>
          <p:nvPr userDrawn="1"/>
        </p:nvSpPr>
        <p:spPr>
          <a:xfrm>
            <a:off x="0" y="0"/>
            <a:ext cx="1219199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userDrawn="1"/>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499834" cy="1434662"/>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AA654AB-C2AE-417E-9E7B-1A38F8EEF46E}" type="datetime1">
              <a:rPr lang="en-US" smtClean="0"/>
              <a:pPr/>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userDrawn="1"/>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59424E-2F7C-42CF-80D9-5F65DA459DD0}" type="datetime1">
              <a:rPr lang="en-US" smtClean="0"/>
              <a:t>2/21/2026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2/21/2026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85751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p:spPr>
        <p:txBody>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2/21/2026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83084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D1E4CDFE-4149-497F-9AB2-FC1DA668517A}" type="datetime1">
              <a:rPr lang="en-US" smtClean="0"/>
              <a:pPr/>
              <a:t>2/21/2026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675" r:id="rId3"/>
    <p:sldLayoutId id="2147483712" r:id="rId4"/>
    <p:sldLayoutId id="2147483698" r:id="rId5"/>
    <p:sldLayoutId id="2147483728" r:id="rId6"/>
    <p:sldLayoutId id="2147483761" r:id="rId7"/>
    <p:sldLayoutId id="2147483760" r:id="rId8"/>
    <p:sldLayoutId id="2147483786" r:id="rId9"/>
    <p:sldLayoutId id="2147483788" r:id="rId10"/>
    <p:sldLayoutId id="2147483713" r:id="rId11"/>
    <p:sldLayoutId id="2147483729" r:id="rId12"/>
    <p:sldLayoutId id="2147483662" r:id="rId13"/>
    <p:sldLayoutId id="2147483767" r:id="rId14"/>
    <p:sldLayoutId id="2147483679" r:id="rId15"/>
    <p:sldLayoutId id="2147483680" r:id="rId16"/>
    <p:sldLayoutId id="2147483681" r:id="rId17"/>
    <p:sldLayoutId id="2147483682" r:id="rId18"/>
    <p:sldLayoutId id="2147483706" r:id="rId19"/>
    <p:sldLayoutId id="2147483789" r:id="rId20"/>
    <p:sldLayoutId id="2147483689" r:id="rId21"/>
    <p:sldLayoutId id="2147483690" r:id="rId22"/>
    <p:sldLayoutId id="2147483707" r:id="rId23"/>
    <p:sldLayoutId id="2147483708" r:id="rId24"/>
    <p:sldLayoutId id="2147483692" r:id="rId25"/>
    <p:sldLayoutId id="2147483691" r:id="rId26"/>
    <p:sldLayoutId id="2147483733" r:id="rId27"/>
    <p:sldLayoutId id="2147483731" r:id="rId28"/>
    <p:sldLayoutId id="2147483780" r:id="rId29"/>
    <p:sldLayoutId id="2147483694" r:id="rId30"/>
    <p:sldLayoutId id="2147483726" r:id="rId31"/>
    <p:sldLayoutId id="2147483693" r:id="rId32"/>
    <p:sldLayoutId id="2147483672" r:id="rId33"/>
    <p:sldLayoutId id="2147483756" r:id="rId34"/>
    <p:sldLayoutId id="2147483757" r:id="rId35"/>
    <p:sldLayoutId id="2147483696" r:id="rId36"/>
    <p:sldLayoutId id="2147483752" r:id="rId37"/>
    <p:sldLayoutId id="2147483758" r:id="rId38"/>
    <p:sldLayoutId id="2147483753" r:id="rId39"/>
    <p:sldLayoutId id="2147483747" r:id="rId40"/>
    <p:sldLayoutId id="2147483759" r:id="rId41"/>
    <p:sldLayoutId id="2147483742" r:id="rId42"/>
    <p:sldLayoutId id="2147483740" r:id="rId43"/>
    <p:sldLayoutId id="2147483743" r:id="rId44"/>
    <p:sldLayoutId id="2147483664" r:id="rId45"/>
    <p:sldLayoutId id="2147483665" r:id="rId46"/>
    <p:sldLayoutId id="2147483666" r:id="rId47"/>
    <p:sldLayoutId id="2147483667" r:id="rId48"/>
    <p:sldLayoutId id="2147483668" r:id="rId49"/>
    <p:sldLayoutId id="2147483784" r:id="rId50"/>
    <p:sldLayoutId id="2147483783" r:id="rId51"/>
    <p:sldLayoutId id="2147483687" r:id="rId52"/>
    <p:sldLayoutId id="2147483790" r:id="rId53"/>
    <p:sldLayoutId id="2147483791" r:id="rId54"/>
  </p:sldLayoutIdLst>
  <p:hf hdr="0"/>
  <p:txStyles>
    <p:title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pagerduty.com/resources/devops/learn/sre-vs-devops/"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hyperlink" Target="https://moss.sh/devops-monitoring/devops-on-call-rotation-setup/" TargetMode="External"/><Relationship Id="rId2" Type="http://schemas.openxmlformats.org/officeDocument/2006/relationships/hyperlink" Target="https://sre.google/workbook/on-call/" TargetMode="External"/><Relationship Id="rId1" Type="http://schemas.openxmlformats.org/officeDocument/2006/relationships/slideLayout" Target="../slideLayouts/slideLayout14.xml"/><Relationship Id="rId5" Type="http://schemas.openxmlformats.org/officeDocument/2006/relationships/hyperlink" Target="https://www.pagerduty.com/resources/incident-management-response/learn/call-rotations-schedules/" TargetMode="External"/><Relationship Id="rId4" Type="http://schemas.openxmlformats.org/officeDocument/2006/relationships/hyperlink" Target="https://chat.openai.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321A2-65AC-4C18-CA75-0FB5084CA306}"/>
              </a:ext>
            </a:extLst>
          </p:cNvPr>
          <p:cNvSpPr>
            <a:spLocks noGrp="1"/>
          </p:cNvSpPr>
          <p:nvPr>
            <p:ph type="title"/>
          </p:nvPr>
        </p:nvSpPr>
        <p:spPr>
          <a:xfrm>
            <a:off x="457199" y="5012268"/>
            <a:ext cx="7736256" cy="1390330"/>
          </a:xfrm>
        </p:spPr>
        <p:txBody>
          <a:bodyPr anchor="t">
            <a:normAutofit/>
          </a:bodyPr>
          <a:lstStyle/>
          <a:p>
            <a:r>
              <a:rPr lang="en-US" sz="2800" b="1" i="1"/>
              <a:t>Best Practices for Pager Rotation in DevOps </a:t>
            </a:r>
          </a:p>
        </p:txBody>
      </p:sp>
      <p:pic>
        <p:nvPicPr>
          <p:cNvPr id="8" name="Picture Placeholder 7" descr="A close-up of a stone staircase">
            <a:extLst>
              <a:ext uri="{FF2B5EF4-FFF2-40B4-BE49-F238E27FC236}">
                <a16:creationId xmlns:a16="http://schemas.microsoft.com/office/drawing/2014/main" id="{4E172530-3FAA-8187-453C-DCFCF289E772}"/>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b="6129"/>
          <a:stretch>
            <a:fillRect/>
          </a:stretch>
        </p:blipFill>
        <p:spPr>
          <a:xfrm>
            <a:off x="20" y="10"/>
            <a:ext cx="12191980" cy="4635122"/>
          </a:xfrm>
          <a:noFill/>
        </p:spPr>
      </p:pic>
      <p:sp>
        <p:nvSpPr>
          <p:cNvPr id="5" name="Subtitle 4">
            <a:extLst>
              <a:ext uri="{FF2B5EF4-FFF2-40B4-BE49-F238E27FC236}">
                <a16:creationId xmlns:a16="http://schemas.microsoft.com/office/drawing/2014/main" id="{02FA3257-663D-61CE-A5D5-22B53DB71488}"/>
              </a:ext>
            </a:extLst>
          </p:cNvPr>
          <p:cNvSpPr>
            <a:spLocks noGrp="1"/>
          </p:cNvSpPr>
          <p:nvPr>
            <p:ph sz="quarter" idx="14"/>
          </p:nvPr>
        </p:nvSpPr>
        <p:spPr>
          <a:xfrm>
            <a:off x="8329001" y="5012267"/>
            <a:ext cx="3489277" cy="1390330"/>
          </a:xfrm>
        </p:spPr>
        <p:txBody>
          <a:bodyPr>
            <a:normAutofit/>
          </a:bodyPr>
          <a:lstStyle/>
          <a:p>
            <a:r>
              <a:rPr lang="en-US"/>
              <a:t>CSD380-H307 DevOps Module 7.2</a:t>
            </a:r>
            <a:endParaRPr lang="en-US" dirty="0"/>
          </a:p>
          <a:p>
            <a:r>
              <a:rPr lang="en-US"/>
              <a:t> Daniel Graham</a:t>
            </a:r>
          </a:p>
        </p:txBody>
      </p:sp>
      <p:sp>
        <p:nvSpPr>
          <p:cNvPr id="13" name="Date Placeholder 4">
            <a:extLst>
              <a:ext uri="{FF2B5EF4-FFF2-40B4-BE49-F238E27FC236}">
                <a16:creationId xmlns:a16="http://schemas.microsoft.com/office/drawing/2014/main" id="{AD0912B6-67F1-7645-1249-B8D9643F80DF}"/>
              </a:ext>
            </a:extLst>
          </p:cNvPr>
          <p:cNvSpPr>
            <a:spLocks noGrp="1"/>
          </p:cNvSpPr>
          <p:nvPr>
            <p:ph type="dt" sz="half" idx="10"/>
          </p:nvPr>
        </p:nvSpPr>
        <p:spPr>
          <a:xfrm>
            <a:off x="457199" y="6397586"/>
            <a:ext cx="4043855" cy="365125"/>
          </a:xfrm>
        </p:spPr>
        <p:txBody>
          <a:bodyPr anchor="ctr">
            <a:normAutofit/>
          </a:bodyPr>
          <a:lstStyle/>
          <a:p>
            <a:pPr>
              <a:spcAft>
                <a:spcPts val="600"/>
              </a:spcAft>
            </a:pPr>
            <a:fld id="{6EAE0971-16E1-4804-BCF7-2D4AE159BC5F}" type="datetime1">
              <a:rPr lang="en-US" smtClean="0"/>
              <a:pPr>
                <a:spcAft>
                  <a:spcPts val="600"/>
                </a:spcAft>
              </a:pPr>
              <a:t>2/21/2026</a:t>
            </a:fld>
            <a:endParaRPr lang="en-US"/>
          </a:p>
        </p:txBody>
      </p:sp>
    </p:spTree>
    <p:extLst>
      <p:ext uri="{BB962C8B-B14F-4D97-AF65-F5344CB8AC3E}">
        <p14:creationId xmlns:p14="http://schemas.microsoft.com/office/powerpoint/2010/main" val="306996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457199" y="457200"/>
            <a:ext cx="9506608" cy="2215056"/>
          </a:xfrm>
        </p:spPr>
        <p:txBody>
          <a:bodyPr/>
          <a:lstStyle/>
          <a:p>
            <a:r>
              <a:rPr lang="en-US" i="1" dirty="0"/>
              <a:t>What is Pager </a:t>
            </a:r>
            <a:r>
              <a:rPr lang="en-US" i="1"/>
              <a:t>Rotation?</a:t>
            </a:r>
            <a:endParaRPr lang="en-US" i="1" dirty="0"/>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6361386" y="3231931"/>
            <a:ext cx="5200938" cy="2791839"/>
          </a:xfrm>
        </p:spPr>
        <p:txBody>
          <a:bodyPr vert="horz" lIns="91440" tIns="45720" rIns="91440" bIns="45720" rtlCol="0" anchor="t">
            <a:normAutofit fontScale="70000" lnSpcReduction="20000"/>
          </a:bodyPr>
          <a:lstStyle/>
          <a:p>
            <a:pPr marL="0" indent="0">
              <a:buNone/>
            </a:pPr>
            <a:r>
              <a:rPr lang="en-US" sz="1800" b="1" dirty="0">
                <a:ea typeface="+mn-lt"/>
                <a:cs typeface="+mn-lt"/>
              </a:rPr>
              <a:t>Pager rotation refers to assigning on-call alert responsibilities to a team of engineers to ensure 24/7 </a:t>
            </a:r>
            <a:r>
              <a:rPr lang="en-US" sz="1800" b="1">
                <a:ea typeface="+mn-lt"/>
                <a:cs typeface="+mn-lt"/>
              </a:rPr>
              <a:t>response to incidents and issues. </a:t>
            </a:r>
            <a:endParaRPr lang="en-US" sz="1800" b="1" i="1">
              <a:ea typeface="+mn-lt"/>
              <a:cs typeface="+mn-lt"/>
            </a:endParaRPr>
          </a:p>
          <a:p>
            <a:pPr marL="0" indent="0">
              <a:buNone/>
            </a:pPr>
            <a:r>
              <a:rPr lang="en-US" sz="1800" i="1">
                <a:ea typeface="+mn-lt"/>
                <a:cs typeface="+mn-lt"/>
              </a:rPr>
              <a:t>"</a:t>
            </a:r>
            <a:r>
              <a:rPr lang="en-US" sz="1800" i="1">
                <a:solidFill>
                  <a:srgbClr val="2F3333"/>
                </a:solidFill>
                <a:ea typeface="+mn-lt"/>
                <a:cs typeface="+mn-lt"/>
              </a:rPr>
              <a:t>In DevOps and </a:t>
            </a:r>
            <a:r>
              <a:rPr lang="en-US" sz="1800" i="1" dirty="0">
                <a:solidFill>
                  <a:srgbClr val="048A24"/>
                </a:solidFill>
                <a:ea typeface="+mn-lt"/>
                <a:cs typeface="+mn-lt"/>
                <a:hlinkClick r:id="rId2"/>
              </a:rPr>
              <a:t>Site Reliability Engineering (SRE)</a:t>
            </a:r>
            <a:r>
              <a:rPr lang="en-US" sz="1800" i="1">
                <a:solidFill>
                  <a:srgbClr val="2F3333"/>
                </a:solidFill>
                <a:ea typeface="+mn-lt"/>
                <a:cs typeface="+mn-lt"/>
              </a:rPr>
              <a:t>, on-call coverage ensures that production systems are monitored and supported 24/7. When issues arise, there’s always a qualified engineer ready to step in and resolve them, minimizing downtime and customer impact." (PagerDuty)</a:t>
            </a:r>
            <a:endParaRPr lang="en-US" sz="1800" i="1">
              <a:solidFill>
                <a:srgbClr val="1D1D1D"/>
              </a:solidFill>
              <a:ea typeface="+mn-lt"/>
              <a:cs typeface="+mn-lt"/>
            </a:endParaRPr>
          </a:p>
          <a:p>
            <a:pPr marL="0" indent="0">
              <a:buNone/>
            </a:pPr>
            <a:r>
              <a:rPr lang="en-US" sz="1800" b="1" dirty="0"/>
              <a:t>Key Purposes</a:t>
            </a:r>
            <a:r>
              <a:rPr lang="en-US" sz="1800" b="1" dirty="0">
                <a:ea typeface="+mn-lt"/>
                <a:cs typeface="+mn-lt"/>
              </a:rPr>
              <a:t> of Pager Rotation </a:t>
            </a:r>
            <a:r>
              <a:rPr lang="en-US" sz="1800" b="1">
                <a:ea typeface="+mn-lt"/>
                <a:cs typeface="+mn-lt"/>
              </a:rPr>
              <a:t>include:</a:t>
            </a:r>
            <a:br>
              <a:rPr lang="en-US" sz="1800" b="1" dirty="0">
                <a:ea typeface="+mn-lt"/>
                <a:cs typeface="+mn-lt"/>
              </a:rPr>
            </a:br>
            <a:r>
              <a:rPr lang="en-US" sz="1800">
                <a:ea typeface="+mn-lt"/>
                <a:cs typeface="+mn-lt"/>
              </a:rPr>
              <a:t>-Quick incident response</a:t>
            </a:r>
            <a:br>
              <a:rPr lang="en-US" sz="1800" dirty="0">
                <a:ea typeface="+mn-lt"/>
                <a:cs typeface="+mn-lt"/>
              </a:rPr>
            </a:br>
            <a:r>
              <a:rPr lang="en-US" sz="1800">
                <a:ea typeface="+mn-lt"/>
                <a:cs typeface="+mn-lt"/>
              </a:rPr>
              <a:t>-Reduced burnout</a:t>
            </a:r>
            <a:r>
              <a:rPr lang="en-US" sz="1800" dirty="0">
                <a:ea typeface="+mn-lt"/>
                <a:cs typeface="+mn-lt"/>
              </a:rPr>
              <a:t> through fair distribution</a:t>
            </a:r>
            <a:br>
              <a:rPr lang="en-US" sz="1800" dirty="0">
                <a:ea typeface="+mn-lt"/>
                <a:cs typeface="+mn-lt"/>
              </a:rPr>
            </a:br>
            <a:r>
              <a:rPr lang="en-US" sz="1800">
                <a:ea typeface="+mn-lt"/>
                <a:cs typeface="+mn-lt"/>
              </a:rPr>
              <a:t>-Increased system reliability</a:t>
            </a:r>
            <a:endParaRPr lang="en-US" sz="1800" dirty="0">
              <a:ea typeface="+mn-lt"/>
              <a:cs typeface="+mn-lt"/>
            </a:endParaRPr>
          </a:p>
          <a:p>
            <a:endParaRPr lang="en-US" dirty="0"/>
          </a:p>
        </p:txBody>
      </p:sp>
      <p:pic>
        <p:nvPicPr>
          <p:cNvPr id="5" name="Picture 4" descr="A black rectangular object with buttons and a green screen&#10;&#10;AI-generated content may be incorrect.">
            <a:extLst>
              <a:ext uri="{FF2B5EF4-FFF2-40B4-BE49-F238E27FC236}">
                <a16:creationId xmlns:a16="http://schemas.microsoft.com/office/drawing/2014/main" id="{22BEC44B-83FD-960F-C5D1-2AEEDAB3FF4A}"/>
              </a:ext>
            </a:extLst>
          </p:cNvPr>
          <p:cNvPicPr>
            <a:picLocks noChangeAspect="1"/>
          </p:cNvPicPr>
          <p:nvPr/>
        </p:nvPicPr>
        <p:blipFill>
          <a:blip r:embed="rId3"/>
          <a:stretch>
            <a:fillRect/>
          </a:stretch>
        </p:blipFill>
        <p:spPr>
          <a:xfrm>
            <a:off x="1662824" y="3429282"/>
            <a:ext cx="2247190" cy="1773641"/>
          </a:xfrm>
          <a:prstGeom prst="rect">
            <a:avLst/>
          </a:prstGeom>
          <a:ln w="228600" cap="sq" cmpd="thickThin">
            <a:solidFill>
              <a:srgbClr val="000000"/>
            </a:solidFill>
            <a:prstDash val="solid"/>
            <a:miter lim="800000"/>
          </a:ln>
          <a:effectLst>
            <a:innerShdw blurRad="76200">
              <a:srgbClr val="000000"/>
            </a:innerShdw>
          </a:effectLst>
        </p:spPr>
      </p:pic>
      <p:sp>
        <p:nvSpPr>
          <p:cNvPr id="6" name="TextBox 5">
            <a:extLst>
              <a:ext uri="{FF2B5EF4-FFF2-40B4-BE49-F238E27FC236}">
                <a16:creationId xmlns:a16="http://schemas.microsoft.com/office/drawing/2014/main" id="{3E2A0976-54B0-D6F3-068E-50F7009CCF89}"/>
              </a:ext>
            </a:extLst>
          </p:cNvPr>
          <p:cNvSpPr txBox="1"/>
          <p:nvPr/>
        </p:nvSpPr>
        <p:spPr>
          <a:xfrm>
            <a:off x="825401" y="5525512"/>
            <a:ext cx="40715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The antique device this concept is named after!</a:t>
            </a:r>
          </a:p>
        </p:txBody>
      </p:sp>
    </p:spTree>
    <p:extLst>
      <p:ext uri="{BB962C8B-B14F-4D97-AF65-F5344CB8AC3E}">
        <p14:creationId xmlns:p14="http://schemas.microsoft.com/office/powerpoint/2010/main" val="42165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A5-0283-F980-85F3-EE51746FC4CD}"/>
              </a:ext>
            </a:extLst>
          </p:cNvPr>
          <p:cNvSpPr>
            <a:spLocks noGrp="1"/>
          </p:cNvSpPr>
          <p:nvPr>
            <p:ph type="title"/>
          </p:nvPr>
        </p:nvSpPr>
        <p:spPr>
          <a:xfrm>
            <a:off x="457200" y="4162318"/>
            <a:ext cx="2953618" cy="2060682"/>
          </a:xfrm>
        </p:spPr>
        <p:txBody>
          <a:bodyPr anchor="t">
            <a:normAutofit/>
          </a:bodyPr>
          <a:lstStyle/>
          <a:p>
            <a:r>
              <a:rPr lang="en-US" i="1" dirty="0"/>
              <a:t>Why Does Pager Rotation </a:t>
            </a:r>
            <a:r>
              <a:rPr lang="en-US" i="1"/>
              <a:t>Matter for </a:t>
            </a:r>
            <a:r>
              <a:rPr lang="en-US" i="1" dirty="0"/>
              <a:t>DevOps?</a:t>
            </a:r>
          </a:p>
        </p:txBody>
      </p:sp>
      <p:pic>
        <p:nvPicPr>
          <p:cNvPr id="6" name="Picture Placeholder 5" descr="A person standing on a spiral staircase">
            <a:extLst>
              <a:ext uri="{FF2B5EF4-FFF2-40B4-BE49-F238E27FC236}">
                <a16:creationId xmlns:a16="http://schemas.microsoft.com/office/drawing/2014/main" id="{EEC7D502-BA35-23ED-404B-50A37D721DC6}"/>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t="12880" b="53527"/>
          <a:stretch>
            <a:fillRect/>
          </a:stretch>
        </p:blipFill>
        <p:spPr>
          <a:xfrm>
            <a:off x="-1" y="10"/>
            <a:ext cx="12192000" cy="3778260"/>
          </a:xfrm>
          <a:noFill/>
        </p:spPr>
      </p:pic>
      <p:sp>
        <p:nvSpPr>
          <p:cNvPr id="3" name="Content Placeholder 2">
            <a:extLst>
              <a:ext uri="{FF2B5EF4-FFF2-40B4-BE49-F238E27FC236}">
                <a16:creationId xmlns:a16="http://schemas.microsoft.com/office/drawing/2014/main" id="{1A385359-5FD3-D5C8-1467-F7082543AA4C}"/>
              </a:ext>
            </a:extLst>
          </p:cNvPr>
          <p:cNvSpPr>
            <a:spLocks noGrp="1"/>
          </p:cNvSpPr>
          <p:nvPr>
            <p:ph sz="quarter" idx="14"/>
          </p:nvPr>
        </p:nvSpPr>
        <p:spPr>
          <a:xfrm>
            <a:off x="3977640" y="4162318"/>
            <a:ext cx="7772400" cy="2158015"/>
          </a:xfrm>
        </p:spPr>
        <p:txBody>
          <a:bodyPr vert="horz" lIns="91440" tIns="45720" rIns="91440" bIns="45720" rtlCol="0" anchor="t">
            <a:normAutofit/>
          </a:bodyPr>
          <a:lstStyle/>
          <a:p>
            <a:pPr marL="0" indent="0">
              <a:buNone/>
            </a:pPr>
            <a:r>
              <a:rPr lang="en-US" dirty="0"/>
              <a:t>DevOps has a focus on rapid deployment, requiring constant monitoring and alerting. Implementing Pager Rotations ensures constant availability and </a:t>
            </a:r>
            <a:r>
              <a:rPr lang="en-US"/>
              <a:t>resilience of services even during off peak hours when systems are still used but staff might not normally be available.</a:t>
            </a:r>
            <a:endParaRPr lang="en-US" dirty="0"/>
          </a:p>
        </p:txBody>
      </p:sp>
      <p:sp>
        <p:nvSpPr>
          <p:cNvPr id="11" name="Date Placeholder 4">
            <a:extLst>
              <a:ext uri="{FF2B5EF4-FFF2-40B4-BE49-F238E27FC236}">
                <a16:creationId xmlns:a16="http://schemas.microsoft.com/office/drawing/2014/main" id="{6F1EDC3C-1B89-7548-F96C-7D76F3585B01}"/>
              </a:ext>
            </a:extLst>
          </p:cNvPr>
          <p:cNvSpPr>
            <a:spLocks noGrp="1"/>
          </p:cNvSpPr>
          <p:nvPr>
            <p:ph type="dt" sz="half" idx="10"/>
          </p:nvPr>
        </p:nvSpPr>
        <p:spPr>
          <a:xfrm>
            <a:off x="457199" y="6397586"/>
            <a:ext cx="4043855" cy="365125"/>
          </a:xfrm>
        </p:spPr>
        <p:txBody>
          <a:bodyPr/>
          <a:lstStyle/>
          <a:p>
            <a:pPr>
              <a:spcAft>
                <a:spcPts val="600"/>
              </a:spcAft>
            </a:pPr>
            <a:fld id="{E639A7FB-F6CB-4A83-AB01-DE96AD12BDE0}" type="datetime1">
              <a:rPr lang="en-US" smtClean="0"/>
              <a:pPr>
                <a:spcAft>
                  <a:spcPts val="600"/>
                </a:spcAft>
              </a:pPr>
              <a:t>2/21/2026</a:t>
            </a:fld>
            <a:endParaRPr lang="en-US"/>
          </a:p>
        </p:txBody>
      </p:sp>
    </p:spTree>
    <p:extLst>
      <p:ext uri="{BB962C8B-B14F-4D97-AF65-F5344CB8AC3E}">
        <p14:creationId xmlns:p14="http://schemas.microsoft.com/office/powerpoint/2010/main" val="3313450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33A0-1764-3DC0-A9D7-7733B04AFC75}"/>
              </a:ext>
            </a:extLst>
          </p:cNvPr>
          <p:cNvSpPr>
            <a:spLocks noGrp="1"/>
          </p:cNvSpPr>
          <p:nvPr>
            <p:ph type="title"/>
          </p:nvPr>
        </p:nvSpPr>
        <p:spPr>
          <a:xfrm>
            <a:off x="457199" y="457201"/>
            <a:ext cx="10898189" cy="693682"/>
          </a:xfrm>
        </p:spPr>
        <p:txBody>
          <a:bodyPr anchor="t">
            <a:normAutofit/>
          </a:bodyPr>
          <a:lstStyle/>
          <a:p>
            <a:r>
              <a:rPr lang="en-US" sz="2000" b="1" cap="all">
                <a:solidFill>
                  <a:srgbClr val="2A38D5"/>
                </a:solidFill>
              </a:rPr>
              <a:t>Best Practices</a:t>
            </a:r>
            <a:br>
              <a:rPr lang="en-US" sz="2000" b="1" cap="all" dirty="0"/>
            </a:br>
            <a:r>
              <a:rPr lang="en-US" sz="2000" b="1" cap="all">
                <a:solidFill>
                  <a:srgbClr val="2A38D5"/>
                </a:solidFill>
              </a:rPr>
              <a:t>Practice #1: Create Fair, Predictable Schedules.</a:t>
            </a:r>
            <a:endParaRPr lang="en-US" sz="2000" cap="all">
              <a:solidFill>
                <a:srgbClr val="000000"/>
              </a:solidFill>
            </a:endParaRPr>
          </a:p>
          <a:p>
            <a:endParaRPr lang="en-US" sz="2000" b="1" cap="all" dirty="0">
              <a:solidFill>
                <a:srgbClr val="2A38D5"/>
              </a:solidFill>
            </a:endParaRPr>
          </a:p>
        </p:txBody>
      </p:sp>
      <p:sp>
        <p:nvSpPr>
          <p:cNvPr id="3" name="Subtitle 2">
            <a:extLst>
              <a:ext uri="{FF2B5EF4-FFF2-40B4-BE49-F238E27FC236}">
                <a16:creationId xmlns:a16="http://schemas.microsoft.com/office/drawing/2014/main" id="{8DC6822A-D1D9-EA6C-D8F4-6F6AB9565D17}"/>
              </a:ext>
            </a:extLst>
          </p:cNvPr>
          <p:cNvSpPr>
            <a:spLocks noGrp="1"/>
          </p:cNvSpPr>
          <p:nvPr>
            <p:ph type="body" idx="1"/>
          </p:nvPr>
        </p:nvSpPr>
        <p:spPr>
          <a:xfrm>
            <a:off x="457200" y="1595300"/>
            <a:ext cx="5262890" cy="534033"/>
          </a:xfrm>
        </p:spPr>
        <p:txBody>
          <a:bodyPr vert="horz" lIns="91440" tIns="45720" rIns="91440" bIns="45720" rtlCol="0" anchor="b">
            <a:normAutofit/>
          </a:bodyPr>
          <a:lstStyle/>
          <a:p>
            <a:r>
              <a:rPr lang="en-US"/>
              <a:t>Key Principles</a:t>
            </a:r>
          </a:p>
        </p:txBody>
      </p:sp>
      <p:sp>
        <p:nvSpPr>
          <p:cNvPr id="4" name="TextBox 3">
            <a:extLst>
              <a:ext uri="{FF2B5EF4-FFF2-40B4-BE49-F238E27FC236}">
                <a16:creationId xmlns:a16="http://schemas.microsoft.com/office/drawing/2014/main" id="{16CD6552-041F-3639-DFA5-F5E7330C8A52}"/>
              </a:ext>
            </a:extLst>
          </p:cNvPr>
          <p:cNvSpPr txBox="1"/>
          <p:nvPr/>
        </p:nvSpPr>
        <p:spPr>
          <a:xfrm>
            <a:off x="457199" y="2271365"/>
            <a:ext cx="5262891" cy="376396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Bef>
                <a:spcPts val="1000"/>
              </a:spcBef>
            </a:pPr>
            <a:r>
              <a:rPr lang="en-US" sz="2000" dirty="0">
                <a:solidFill>
                  <a:schemeClr val="tx2"/>
                </a:solidFill>
              </a:rPr>
              <a:t>The first best practice for any Pager Rotation is to divide rotations equally, with clearly defined rotations </a:t>
            </a:r>
            <a:r>
              <a:rPr lang="en-US" sz="2000" kern="1200" dirty="0">
                <a:solidFill>
                  <a:schemeClr val="tx2"/>
                </a:solidFill>
              </a:rPr>
              <a:t>and </a:t>
            </a:r>
            <a:r>
              <a:rPr lang="en-US" sz="2000" dirty="0">
                <a:solidFill>
                  <a:schemeClr val="tx2"/>
                </a:solidFill>
              </a:rPr>
              <a:t>transparent escalation paths if issues require additional assistance.</a:t>
            </a:r>
          </a:p>
        </p:txBody>
      </p:sp>
      <p:sp>
        <p:nvSpPr>
          <p:cNvPr id="29" name="Text Placeholder 4">
            <a:extLst>
              <a:ext uri="{FF2B5EF4-FFF2-40B4-BE49-F238E27FC236}">
                <a16:creationId xmlns:a16="http://schemas.microsoft.com/office/drawing/2014/main" id="{7F1797B3-CE5D-B38B-0489-6DA559599A1C}"/>
              </a:ext>
            </a:extLst>
          </p:cNvPr>
          <p:cNvSpPr>
            <a:spLocks noGrp="1"/>
          </p:cNvSpPr>
          <p:nvPr>
            <p:ph type="body" sz="quarter" idx="3"/>
          </p:nvPr>
        </p:nvSpPr>
        <p:spPr>
          <a:xfrm>
            <a:off x="6172200" y="1595300"/>
            <a:ext cx="5183188" cy="534033"/>
          </a:xfrm>
        </p:spPr>
        <p:txBody>
          <a:bodyPr/>
          <a:lstStyle/>
          <a:p>
            <a:r>
              <a:rPr lang="en-US">
                <a:solidFill>
                  <a:srgbClr val="2A38D5"/>
                </a:solidFill>
              </a:rPr>
              <a:t>Benefits</a:t>
            </a:r>
            <a:r>
              <a:rPr lang="en-US" dirty="0">
                <a:solidFill>
                  <a:srgbClr val="2A38D5"/>
                </a:solidFill>
              </a:rPr>
              <a:t> in Practice</a:t>
            </a:r>
            <a:endParaRPr lang="en-US" dirty="0"/>
          </a:p>
        </p:txBody>
      </p:sp>
      <p:sp>
        <p:nvSpPr>
          <p:cNvPr id="30" name="Text Placeholder 5">
            <a:extLst>
              <a:ext uri="{FF2B5EF4-FFF2-40B4-BE49-F238E27FC236}">
                <a16:creationId xmlns:a16="http://schemas.microsoft.com/office/drawing/2014/main" id="{DA6EC613-CC04-2960-D6A0-E330D9232713}"/>
              </a:ext>
            </a:extLst>
          </p:cNvPr>
          <p:cNvSpPr>
            <a:spLocks noGrp="1"/>
          </p:cNvSpPr>
          <p:nvPr>
            <p:ph type="body" sz="quarter" idx="14"/>
          </p:nvPr>
        </p:nvSpPr>
        <p:spPr>
          <a:xfrm>
            <a:off x="6172200" y="2271365"/>
            <a:ext cx="5183188" cy="3763963"/>
          </a:xfrm>
        </p:spPr>
        <p:txBody>
          <a:bodyPr vert="horz" lIns="91440" tIns="45720" rIns="91440" bIns="45720" rtlCol="0" anchor="t">
            <a:normAutofit/>
          </a:bodyPr>
          <a:lstStyle/>
          <a:p>
            <a:pPr marL="285750" indent="-285750">
              <a:lnSpc>
                <a:spcPct val="100000"/>
              </a:lnSpc>
              <a:buFont typeface="Wingdings" panose="020B0604020202020204" pitchFamily="34" charset="0"/>
              <a:buChar char="ü"/>
            </a:pPr>
            <a:r>
              <a:rPr lang="en-US"/>
              <a:t>Better Team Morale</a:t>
            </a:r>
            <a:endParaRPr lang="en-US" i="1" dirty="0"/>
          </a:p>
          <a:p>
            <a:pPr marL="285750" indent="-285750">
              <a:lnSpc>
                <a:spcPct val="100000"/>
              </a:lnSpc>
              <a:buFont typeface="Wingdings" panose="020B0604020202020204" pitchFamily="34" charset="0"/>
              <a:buChar char="ü"/>
            </a:pPr>
            <a:r>
              <a:rPr lang="en-US"/>
              <a:t>Clear Expectations</a:t>
            </a:r>
            <a:endParaRPr lang="en-US" dirty="0"/>
          </a:p>
          <a:p>
            <a:pPr marL="285750" indent="-285750">
              <a:lnSpc>
                <a:spcPct val="100000"/>
              </a:lnSpc>
              <a:buFont typeface="Wingdings" panose="020B0604020202020204" pitchFamily="34" charset="0"/>
              <a:buChar char="ü"/>
            </a:pPr>
            <a:r>
              <a:rPr lang="en-US"/>
              <a:t>Less Burnout</a:t>
            </a:r>
          </a:p>
          <a:p>
            <a:pPr marL="285750" indent="-285750">
              <a:lnSpc>
                <a:spcPct val="100000"/>
              </a:lnSpc>
              <a:buFont typeface="Wingdings" panose="020B0604020202020204" pitchFamily="34" charset="0"/>
              <a:buChar char="ü"/>
            </a:pPr>
            <a:r>
              <a:rPr lang="en-US"/>
              <a:t>Consistent Coverage</a:t>
            </a:r>
          </a:p>
          <a:p>
            <a:pPr marL="285750" indent="-285750">
              <a:lnSpc>
                <a:spcPct val="100000"/>
              </a:lnSpc>
              <a:buFont typeface="Wingdings" panose="020B0604020202020204" pitchFamily="34" charset="0"/>
              <a:buChar char="ü"/>
            </a:pPr>
            <a:r>
              <a:rPr lang="en-US">
                <a:solidFill>
                  <a:srgbClr val="1D1D1D"/>
                </a:solidFill>
              </a:rPr>
              <a:t>Dependable Coverage</a:t>
            </a:r>
            <a:endParaRPr lang="en-US" dirty="0">
              <a:solidFill>
                <a:srgbClr val="1D1D1D"/>
              </a:solidFill>
            </a:endParaRPr>
          </a:p>
          <a:p>
            <a:pPr marL="342900" indent="-342900">
              <a:buFont typeface="Wingdings" panose="020B0604020202020204" pitchFamily="34" charset="0"/>
              <a:buChar char="ü"/>
            </a:pPr>
            <a:endParaRPr lang="en-US" sz="2000" dirty="0"/>
          </a:p>
          <a:p>
            <a:pPr marL="285750" indent="-285750">
              <a:buFont typeface="Wingdings" panose="020B0604020202020204" pitchFamily="34" charset="0"/>
              <a:buChar char="ü"/>
            </a:pPr>
            <a:endParaRPr lang="en-US" dirty="0"/>
          </a:p>
        </p:txBody>
      </p:sp>
      <p:sp>
        <p:nvSpPr>
          <p:cNvPr id="31" name="Date Placeholder 6">
            <a:extLst>
              <a:ext uri="{FF2B5EF4-FFF2-40B4-BE49-F238E27FC236}">
                <a16:creationId xmlns:a16="http://schemas.microsoft.com/office/drawing/2014/main" id="{2F1617EF-397A-D69B-3D3E-0FB780AB27A5}"/>
              </a:ext>
            </a:extLst>
          </p:cNvPr>
          <p:cNvSpPr>
            <a:spLocks noGrp="1"/>
          </p:cNvSpPr>
          <p:nvPr>
            <p:ph type="dt" sz="half" idx="10"/>
          </p:nvPr>
        </p:nvSpPr>
        <p:spPr>
          <a:xfrm>
            <a:off x="457199" y="6397586"/>
            <a:ext cx="4043855" cy="365125"/>
          </a:xfrm>
        </p:spPr>
        <p:txBody>
          <a:bodyPr/>
          <a:lstStyle/>
          <a:p>
            <a:pPr>
              <a:spcAft>
                <a:spcPts val="600"/>
              </a:spcAft>
            </a:pPr>
            <a:fld id="{D4373491-7B77-49C6-AD2D-C13ED48C2EBA}" type="datetime1">
              <a:rPr lang="en-US" smtClean="0"/>
              <a:pPr>
                <a:spcAft>
                  <a:spcPts val="600"/>
                </a:spcAft>
              </a:pPr>
              <a:t>2/21/2026</a:t>
            </a:fld>
            <a:endParaRPr lang="en-US"/>
          </a:p>
        </p:txBody>
      </p:sp>
      <p:pic>
        <p:nvPicPr>
          <p:cNvPr id="5" name="Picture 4" descr="A calendar with a pdf file&#10;&#10;AI-generated content may be incorrect.">
            <a:extLst>
              <a:ext uri="{FF2B5EF4-FFF2-40B4-BE49-F238E27FC236}">
                <a16:creationId xmlns:a16="http://schemas.microsoft.com/office/drawing/2014/main" id="{DA17ED80-4A98-DAFC-6562-7C3762694D8C}"/>
              </a:ext>
            </a:extLst>
          </p:cNvPr>
          <p:cNvPicPr>
            <a:picLocks noChangeAspect="1"/>
          </p:cNvPicPr>
          <p:nvPr/>
        </p:nvPicPr>
        <p:blipFill>
          <a:blip r:embed="rId2"/>
          <a:stretch>
            <a:fillRect/>
          </a:stretch>
        </p:blipFill>
        <p:spPr>
          <a:xfrm>
            <a:off x="9547746" y="4521532"/>
            <a:ext cx="2286000" cy="2000250"/>
          </a:xfrm>
          <a:prstGeom prst="rect">
            <a:avLst/>
          </a:prstGeom>
        </p:spPr>
      </p:pic>
    </p:spTree>
    <p:extLst>
      <p:ext uri="{BB962C8B-B14F-4D97-AF65-F5344CB8AC3E}">
        <p14:creationId xmlns:p14="http://schemas.microsoft.com/office/powerpoint/2010/main" val="147103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B2CF4-59D6-EFCB-A604-22507A417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BDA55-90A1-26F9-4F19-5CF0B69E4E13}"/>
              </a:ext>
            </a:extLst>
          </p:cNvPr>
          <p:cNvSpPr>
            <a:spLocks noGrp="1"/>
          </p:cNvSpPr>
          <p:nvPr>
            <p:ph type="title"/>
          </p:nvPr>
        </p:nvSpPr>
        <p:spPr>
          <a:xfrm>
            <a:off x="457199" y="457201"/>
            <a:ext cx="10898189" cy="693682"/>
          </a:xfrm>
        </p:spPr>
        <p:txBody>
          <a:bodyPr anchor="t">
            <a:normAutofit/>
          </a:bodyPr>
          <a:lstStyle/>
          <a:p>
            <a:r>
              <a:rPr lang="en-US" sz="2000" b="1" cap="all" dirty="0">
                <a:solidFill>
                  <a:srgbClr val="2A38D5"/>
                </a:solidFill>
              </a:rPr>
              <a:t>Best Practices</a:t>
            </a:r>
            <a:br>
              <a:rPr lang="en-US" sz="2000" b="1" cap="all" dirty="0"/>
            </a:br>
            <a:r>
              <a:rPr lang="en-US" sz="2000" b="1" cap="all">
                <a:solidFill>
                  <a:srgbClr val="2A38D5"/>
                </a:solidFill>
              </a:rPr>
              <a:t>Practice #2: Automate Alerts, Escalate only when needed.</a:t>
            </a:r>
            <a:endParaRPr lang="en-US" sz="2000" cap="all">
              <a:solidFill>
                <a:srgbClr val="000000"/>
              </a:solidFill>
            </a:endParaRPr>
          </a:p>
          <a:p>
            <a:endParaRPr lang="en-US" sz="2000" b="1" cap="all" dirty="0">
              <a:solidFill>
                <a:srgbClr val="2A38D5"/>
              </a:solidFill>
            </a:endParaRPr>
          </a:p>
        </p:txBody>
      </p:sp>
      <p:sp>
        <p:nvSpPr>
          <p:cNvPr id="3" name="Subtitle 2">
            <a:extLst>
              <a:ext uri="{FF2B5EF4-FFF2-40B4-BE49-F238E27FC236}">
                <a16:creationId xmlns:a16="http://schemas.microsoft.com/office/drawing/2014/main" id="{76DEBFBA-CA57-4101-C764-B41B6EA162ED}"/>
              </a:ext>
            </a:extLst>
          </p:cNvPr>
          <p:cNvSpPr>
            <a:spLocks noGrp="1"/>
          </p:cNvSpPr>
          <p:nvPr>
            <p:ph type="body" idx="1"/>
          </p:nvPr>
        </p:nvSpPr>
        <p:spPr>
          <a:xfrm>
            <a:off x="457200" y="1595300"/>
            <a:ext cx="5262890" cy="534033"/>
          </a:xfrm>
        </p:spPr>
        <p:txBody>
          <a:bodyPr vert="horz" lIns="91440" tIns="45720" rIns="91440" bIns="45720" rtlCol="0" anchor="b">
            <a:normAutofit/>
          </a:bodyPr>
          <a:lstStyle/>
          <a:p>
            <a:r>
              <a:rPr lang="en-US"/>
              <a:t>Key Principles</a:t>
            </a:r>
          </a:p>
        </p:txBody>
      </p:sp>
      <p:sp>
        <p:nvSpPr>
          <p:cNvPr id="4" name="TextBox 3">
            <a:extLst>
              <a:ext uri="{FF2B5EF4-FFF2-40B4-BE49-F238E27FC236}">
                <a16:creationId xmlns:a16="http://schemas.microsoft.com/office/drawing/2014/main" id="{B38C7542-6B11-233D-948F-DC3E9A8938A0}"/>
              </a:ext>
            </a:extLst>
          </p:cNvPr>
          <p:cNvSpPr txBox="1"/>
          <p:nvPr/>
        </p:nvSpPr>
        <p:spPr>
          <a:xfrm>
            <a:off x="457199" y="2271365"/>
            <a:ext cx="5262891" cy="376396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Bef>
                <a:spcPts val="1000"/>
              </a:spcBef>
            </a:pPr>
            <a:r>
              <a:rPr lang="en-US" sz="2000" dirty="0">
                <a:solidFill>
                  <a:schemeClr val="tx2"/>
                </a:solidFill>
              </a:rPr>
              <a:t>Use automated monitoring tools to notify on-call staff when problems arise but before they </a:t>
            </a:r>
            <a:r>
              <a:rPr lang="en-US" sz="2000">
                <a:solidFill>
                  <a:schemeClr val="tx2"/>
                </a:solidFill>
              </a:rPr>
              <a:t>become impactful issues</a:t>
            </a:r>
            <a:r>
              <a:rPr lang="en-US" sz="2000" dirty="0">
                <a:solidFill>
                  <a:schemeClr val="tx2"/>
                </a:solidFill>
              </a:rPr>
              <a:t>. If notifications are not confirmed/responded to, then escalate up the resolution chain.</a:t>
            </a:r>
          </a:p>
        </p:txBody>
      </p:sp>
      <p:sp>
        <p:nvSpPr>
          <p:cNvPr id="29" name="Text Placeholder 4">
            <a:extLst>
              <a:ext uri="{FF2B5EF4-FFF2-40B4-BE49-F238E27FC236}">
                <a16:creationId xmlns:a16="http://schemas.microsoft.com/office/drawing/2014/main" id="{3B2DC706-806F-44AE-5D3B-0B5A8A856326}"/>
              </a:ext>
            </a:extLst>
          </p:cNvPr>
          <p:cNvSpPr>
            <a:spLocks noGrp="1"/>
          </p:cNvSpPr>
          <p:nvPr>
            <p:ph type="body" sz="quarter" idx="3"/>
          </p:nvPr>
        </p:nvSpPr>
        <p:spPr>
          <a:xfrm>
            <a:off x="6172200" y="1595300"/>
            <a:ext cx="5183188" cy="534033"/>
          </a:xfrm>
        </p:spPr>
        <p:txBody>
          <a:bodyPr/>
          <a:lstStyle/>
          <a:p>
            <a:r>
              <a:rPr lang="en-US">
                <a:solidFill>
                  <a:srgbClr val="2A38D5"/>
                </a:solidFill>
              </a:rPr>
              <a:t>Benefits</a:t>
            </a:r>
            <a:r>
              <a:rPr lang="en-US" dirty="0">
                <a:solidFill>
                  <a:srgbClr val="2A38D5"/>
                </a:solidFill>
              </a:rPr>
              <a:t> in Practice</a:t>
            </a:r>
            <a:endParaRPr lang="en-US" dirty="0"/>
          </a:p>
        </p:txBody>
      </p:sp>
      <p:sp>
        <p:nvSpPr>
          <p:cNvPr id="30" name="Text Placeholder 5">
            <a:extLst>
              <a:ext uri="{FF2B5EF4-FFF2-40B4-BE49-F238E27FC236}">
                <a16:creationId xmlns:a16="http://schemas.microsoft.com/office/drawing/2014/main" id="{435D5E10-2EB6-EA3A-FB9E-47BD50EBA47B}"/>
              </a:ext>
            </a:extLst>
          </p:cNvPr>
          <p:cNvSpPr>
            <a:spLocks noGrp="1"/>
          </p:cNvSpPr>
          <p:nvPr>
            <p:ph type="body" sz="quarter" idx="14"/>
          </p:nvPr>
        </p:nvSpPr>
        <p:spPr>
          <a:xfrm>
            <a:off x="6172200" y="2271365"/>
            <a:ext cx="5183188" cy="3763963"/>
          </a:xfrm>
        </p:spPr>
        <p:txBody>
          <a:bodyPr vert="horz" lIns="91440" tIns="45720" rIns="91440" bIns="45720" rtlCol="0" anchor="t">
            <a:normAutofit/>
          </a:bodyPr>
          <a:lstStyle/>
          <a:p>
            <a:pPr marL="285750" indent="-285750">
              <a:lnSpc>
                <a:spcPct val="100000"/>
              </a:lnSpc>
              <a:buFont typeface="Wingdings" panose="020B0604020202020204" pitchFamily="34" charset="0"/>
              <a:buChar char="ü"/>
            </a:pPr>
            <a:r>
              <a:rPr lang="en-US">
                <a:solidFill>
                  <a:srgbClr val="1D1D1D"/>
                </a:solidFill>
              </a:rPr>
              <a:t>Faster notification of issues.</a:t>
            </a:r>
            <a:endParaRPr lang="en-US" dirty="0">
              <a:solidFill>
                <a:srgbClr val="1D1D1D"/>
              </a:solidFill>
            </a:endParaRPr>
          </a:p>
          <a:p>
            <a:pPr marL="285750" indent="-285750">
              <a:lnSpc>
                <a:spcPct val="100000"/>
              </a:lnSpc>
              <a:buFont typeface="Wingdings" panose="020B0604020202020204" pitchFamily="34" charset="0"/>
              <a:buChar char="ü"/>
            </a:pPr>
            <a:r>
              <a:rPr lang="en-US"/>
              <a:t>Less manual interventions</a:t>
            </a:r>
            <a:endParaRPr lang="en-US" dirty="0"/>
          </a:p>
          <a:p>
            <a:pPr marL="285750" indent="-285750">
              <a:lnSpc>
                <a:spcPct val="100000"/>
              </a:lnSpc>
              <a:buFont typeface="Wingdings" panose="020B0604020202020204" pitchFamily="34" charset="0"/>
              <a:buChar char="ü"/>
            </a:pPr>
            <a:r>
              <a:rPr lang="en-US"/>
              <a:t>Clear logs for future auditing</a:t>
            </a:r>
            <a:endParaRPr lang="en-US" dirty="0"/>
          </a:p>
          <a:p>
            <a:pPr marL="285750" indent="-285750">
              <a:lnSpc>
                <a:spcPct val="100000"/>
              </a:lnSpc>
              <a:buFont typeface="Wingdings" panose="020B0604020202020204" pitchFamily="34" charset="0"/>
              <a:buChar char="ü"/>
            </a:pPr>
            <a:endParaRPr lang="en-US" dirty="0"/>
          </a:p>
          <a:p>
            <a:pPr marL="342900" indent="-342900">
              <a:buFont typeface="Wingdings" panose="020B0604020202020204" pitchFamily="34" charset="0"/>
              <a:buChar char="ü"/>
            </a:pPr>
            <a:endParaRPr lang="en-US" sz="2000" dirty="0"/>
          </a:p>
          <a:p>
            <a:pPr marL="285750" indent="-285750">
              <a:buFont typeface="Wingdings" panose="020B0604020202020204" pitchFamily="34" charset="0"/>
              <a:buChar char="ü"/>
            </a:pPr>
            <a:endParaRPr lang="en-US" dirty="0"/>
          </a:p>
        </p:txBody>
      </p:sp>
      <p:sp>
        <p:nvSpPr>
          <p:cNvPr id="31" name="Date Placeholder 6">
            <a:extLst>
              <a:ext uri="{FF2B5EF4-FFF2-40B4-BE49-F238E27FC236}">
                <a16:creationId xmlns:a16="http://schemas.microsoft.com/office/drawing/2014/main" id="{383F77C2-4D98-2162-32A2-72EF203E1CC5}"/>
              </a:ext>
            </a:extLst>
          </p:cNvPr>
          <p:cNvSpPr>
            <a:spLocks noGrp="1"/>
          </p:cNvSpPr>
          <p:nvPr>
            <p:ph type="dt" sz="half" idx="10"/>
          </p:nvPr>
        </p:nvSpPr>
        <p:spPr>
          <a:xfrm>
            <a:off x="457199" y="6397586"/>
            <a:ext cx="4043855" cy="365125"/>
          </a:xfrm>
        </p:spPr>
        <p:txBody>
          <a:bodyPr/>
          <a:lstStyle/>
          <a:p>
            <a:pPr>
              <a:spcAft>
                <a:spcPts val="600"/>
              </a:spcAft>
            </a:pPr>
            <a:fld id="{D4373491-7B77-49C6-AD2D-C13ED48C2EBA}" type="datetime1">
              <a:rPr lang="en-US" smtClean="0"/>
              <a:pPr>
                <a:spcAft>
                  <a:spcPts val="600"/>
                </a:spcAft>
              </a:pPr>
              <a:t>2/21/2026</a:t>
            </a:fld>
            <a:endParaRPr lang="en-US"/>
          </a:p>
        </p:txBody>
      </p:sp>
      <p:pic>
        <p:nvPicPr>
          <p:cNvPr id="5" name="Picture 4" descr="A red and black exclamation mark in a circle with black text&#10;&#10;AI-generated content may be incorrect.">
            <a:extLst>
              <a:ext uri="{FF2B5EF4-FFF2-40B4-BE49-F238E27FC236}">
                <a16:creationId xmlns:a16="http://schemas.microsoft.com/office/drawing/2014/main" id="{B6597462-0B40-6212-F296-B051BC3EAF03}"/>
              </a:ext>
            </a:extLst>
          </p:cNvPr>
          <p:cNvPicPr>
            <a:picLocks noChangeAspect="1"/>
          </p:cNvPicPr>
          <p:nvPr/>
        </p:nvPicPr>
        <p:blipFill>
          <a:blip r:embed="rId2"/>
          <a:stretch>
            <a:fillRect/>
          </a:stretch>
        </p:blipFill>
        <p:spPr>
          <a:xfrm>
            <a:off x="9619183" y="4359110"/>
            <a:ext cx="2143125" cy="2143125"/>
          </a:xfrm>
          <a:prstGeom prst="rect">
            <a:avLst/>
          </a:prstGeom>
        </p:spPr>
      </p:pic>
    </p:spTree>
    <p:extLst>
      <p:ext uri="{BB962C8B-B14F-4D97-AF65-F5344CB8AC3E}">
        <p14:creationId xmlns:p14="http://schemas.microsoft.com/office/powerpoint/2010/main" val="4106443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53FCF-6CDF-847F-80C2-0BF72C9DA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08595-8FC5-16AA-7371-3455C36714A9}"/>
              </a:ext>
            </a:extLst>
          </p:cNvPr>
          <p:cNvSpPr>
            <a:spLocks noGrp="1"/>
          </p:cNvSpPr>
          <p:nvPr>
            <p:ph type="title"/>
          </p:nvPr>
        </p:nvSpPr>
        <p:spPr>
          <a:xfrm>
            <a:off x="457199" y="457201"/>
            <a:ext cx="10898189" cy="693682"/>
          </a:xfrm>
        </p:spPr>
        <p:txBody>
          <a:bodyPr anchor="t">
            <a:normAutofit/>
          </a:bodyPr>
          <a:lstStyle/>
          <a:p>
            <a:r>
              <a:rPr lang="en-US" sz="2000" b="1" cap="all" dirty="0">
                <a:solidFill>
                  <a:srgbClr val="2A38D5"/>
                </a:solidFill>
              </a:rPr>
              <a:t>Best Practices</a:t>
            </a:r>
            <a:br>
              <a:rPr lang="en-US" sz="2000" b="1" cap="all" dirty="0"/>
            </a:br>
            <a:r>
              <a:rPr lang="en-US" sz="2000" b="1" cap="all">
                <a:solidFill>
                  <a:srgbClr val="2A38D5"/>
                </a:solidFill>
              </a:rPr>
              <a:t>Practice #3: Set Clear Alert Thresholds</a:t>
            </a:r>
            <a:endParaRPr lang="en-US" sz="2000" cap="all">
              <a:solidFill>
                <a:srgbClr val="000000"/>
              </a:solidFill>
            </a:endParaRPr>
          </a:p>
        </p:txBody>
      </p:sp>
      <p:sp>
        <p:nvSpPr>
          <p:cNvPr id="3" name="Subtitle 2">
            <a:extLst>
              <a:ext uri="{FF2B5EF4-FFF2-40B4-BE49-F238E27FC236}">
                <a16:creationId xmlns:a16="http://schemas.microsoft.com/office/drawing/2014/main" id="{D2986B94-59E4-92C8-9A8E-FD9D0FB7EA22}"/>
              </a:ext>
            </a:extLst>
          </p:cNvPr>
          <p:cNvSpPr>
            <a:spLocks noGrp="1"/>
          </p:cNvSpPr>
          <p:nvPr>
            <p:ph type="body" idx="1"/>
          </p:nvPr>
        </p:nvSpPr>
        <p:spPr>
          <a:xfrm>
            <a:off x="457200" y="1595300"/>
            <a:ext cx="5262890" cy="534033"/>
          </a:xfrm>
        </p:spPr>
        <p:txBody>
          <a:bodyPr vert="horz" lIns="91440" tIns="45720" rIns="91440" bIns="45720" rtlCol="0" anchor="b">
            <a:normAutofit/>
          </a:bodyPr>
          <a:lstStyle/>
          <a:p>
            <a:r>
              <a:rPr lang="en-US"/>
              <a:t>Key Principles</a:t>
            </a:r>
          </a:p>
        </p:txBody>
      </p:sp>
      <p:sp>
        <p:nvSpPr>
          <p:cNvPr id="4" name="TextBox 3">
            <a:extLst>
              <a:ext uri="{FF2B5EF4-FFF2-40B4-BE49-F238E27FC236}">
                <a16:creationId xmlns:a16="http://schemas.microsoft.com/office/drawing/2014/main" id="{BED8CA40-8C73-D49B-8FCD-9C47ECC12C4A}"/>
              </a:ext>
            </a:extLst>
          </p:cNvPr>
          <p:cNvSpPr txBox="1"/>
          <p:nvPr/>
        </p:nvSpPr>
        <p:spPr>
          <a:xfrm>
            <a:off x="457199" y="2271365"/>
            <a:ext cx="5262891" cy="376396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spcBef>
                <a:spcPts val="1000"/>
              </a:spcBef>
            </a:pPr>
            <a:r>
              <a:rPr lang="en-US" sz="1600" dirty="0"/>
              <a:t>Ensure that alerting levels match the company need without being excessive. Too many alerts will waste employee time and cause burn outs. Not enough alerts will cause </a:t>
            </a:r>
            <a:r>
              <a:rPr lang="en-US" sz="1600"/>
              <a:t>issues to get missed or ignored.</a:t>
            </a:r>
            <a:endParaRPr lang="en-US" sz="1600" dirty="0"/>
          </a:p>
          <a:p>
            <a:pPr>
              <a:spcBef>
                <a:spcPts val="1000"/>
              </a:spcBef>
            </a:pPr>
            <a:r>
              <a:rPr lang="en-US" sz="1600" i="1" dirty="0"/>
              <a:t>"</a:t>
            </a:r>
            <a:r>
              <a:rPr lang="en-US" sz="1600" i="1" dirty="0">
                <a:latin typeface="Bierstadt"/>
                <a:ea typeface="Roboto"/>
                <a:cs typeface="Roboto"/>
              </a:rPr>
              <a:t>Engineers shouldn’t have to be at a computer and working on a problem within minutes of receiving a page unless there is a very good reason to do so. While a complete outage of a customer-facing, revenue-generating service typically requires an immediate response, you can deal with less severe issues (for example, failing backups) within a few hours." (Google </a:t>
            </a:r>
            <a:r>
              <a:rPr lang="en-US" sz="1600" i="1" dirty="0" err="1">
                <a:latin typeface="Bierstadt"/>
                <a:ea typeface="Roboto"/>
                <a:cs typeface="Roboto"/>
              </a:rPr>
              <a:t>OnCall</a:t>
            </a:r>
            <a:r>
              <a:rPr lang="en-US" sz="1600" i="1" dirty="0">
                <a:latin typeface="Bierstadt"/>
                <a:ea typeface="Roboto"/>
                <a:cs typeface="Roboto"/>
              </a:rPr>
              <a:t>)</a:t>
            </a:r>
            <a:endParaRPr lang="en-US" sz="1600" i="1">
              <a:latin typeface="Bierstadt"/>
            </a:endParaRPr>
          </a:p>
        </p:txBody>
      </p:sp>
      <p:sp>
        <p:nvSpPr>
          <p:cNvPr id="29" name="Text Placeholder 4">
            <a:extLst>
              <a:ext uri="{FF2B5EF4-FFF2-40B4-BE49-F238E27FC236}">
                <a16:creationId xmlns:a16="http://schemas.microsoft.com/office/drawing/2014/main" id="{85FF22DA-0051-6DB4-938E-C397D03E5D80}"/>
              </a:ext>
            </a:extLst>
          </p:cNvPr>
          <p:cNvSpPr>
            <a:spLocks noGrp="1"/>
          </p:cNvSpPr>
          <p:nvPr>
            <p:ph type="body" sz="quarter" idx="3"/>
          </p:nvPr>
        </p:nvSpPr>
        <p:spPr>
          <a:xfrm>
            <a:off x="6172200" y="1595300"/>
            <a:ext cx="5183188" cy="534033"/>
          </a:xfrm>
        </p:spPr>
        <p:txBody>
          <a:bodyPr/>
          <a:lstStyle/>
          <a:p>
            <a:r>
              <a:rPr lang="en-US">
                <a:solidFill>
                  <a:srgbClr val="2A38D5"/>
                </a:solidFill>
              </a:rPr>
              <a:t>Best approach</a:t>
            </a:r>
            <a:endParaRPr lang="en-US"/>
          </a:p>
        </p:txBody>
      </p:sp>
      <p:sp>
        <p:nvSpPr>
          <p:cNvPr id="30" name="Text Placeholder 5">
            <a:extLst>
              <a:ext uri="{FF2B5EF4-FFF2-40B4-BE49-F238E27FC236}">
                <a16:creationId xmlns:a16="http://schemas.microsoft.com/office/drawing/2014/main" id="{CAF410E3-F93E-4FA7-1E3F-701E001F9D3A}"/>
              </a:ext>
            </a:extLst>
          </p:cNvPr>
          <p:cNvSpPr>
            <a:spLocks noGrp="1"/>
          </p:cNvSpPr>
          <p:nvPr>
            <p:ph type="body" sz="quarter" idx="14"/>
          </p:nvPr>
        </p:nvSpPr>
        <p:spPr>
          <a:xfrm>
            <a:off x="6172200" y="2271365"/>
            <a:ext cx="5183188" cy="3763963"/>
          </a:xfrm>
        </p:spPr>
        <p:txBody>
          <a:bodyPr vert="horz" lIns="91440" tIns="45720" rIns="91440" bIns="45720" rtlCol="0" anchor="t">
            <a:normAutofit/>
          </a:bodyPr>
          <a:lstStyle/>
          <a:p>
            <a:pPr marL="285750" indent="-285750">
              <a:lnSpc>
                <a:spcPct val="100000"/>
              </a:lnSpc>
              <a:buFont typeface="Wingdings" panose="020B0604020202020204" pitchFamily="34" charset="0"/>
              <a:buChar char="ü"/>
            </a:pPr>
            <a:r>
              <a:rPr lang="en-US" dirty="0"/>
              <a:t>Define Service Level Objectives (which are </a:t>
            </a:r>
            <a:r>
              <a:rPr lang="en-US"/>
              <a:t>internal goals for reliability) and follow Service </a:t>
            </a:r>
            <a:r>
              <a:rPr lang="en-US" dirty="0"/>
              <a:t>Level Agreements (external contracts with the </a:t>
            </a:r>
            <a:r>
              <a:rPr lang="en-US"/>
              <a:t>customer for uptimes) to create the right level of alerting to match company need and company obligation.</a:t>
            </a:r>
          </a:p>
          <a:p>
            <a:pPr marL="285750" indent="-285750">
              <a:lnSpc>
                <a:spcPct val="100000"/>
              </a:lnSpc>
              <a:buFont typeface="Wingdings" panose="020B0604020202020204" pitchFamily="34" charset="0"/>
              <a:buChar char="ü"/>
            </a:pPr>
            <a:r>
              <a:rPr lang="en-US"/>
              <a:t>Regularly review alerting levels to ensure needs are being met, and that customers as well as employees are satisfied with the response levels and times.</a:t>
            </a:r>
            <a:endParaRPr lang="en-US" dirty="0"/>
          </a:p>
        </p:txBody>
      </p:sp>
      <p:sp>
        <p:nvSpPr>
          <p:cNvPr id="31" name="Date Placeholder 6">
            <a:extLst>
              <a:ext uri="{FF2B5EF4-FFF2-40B4-BE49-F238E27FC236}">
                <a16:creationId xmlns:a16="http://schemas.microsoft.com/office/drawing/2014/main" id="{88BA715D-774B-CCC1-1924-1A1057A853A5}"/>
              </a:ext>
            </a:extLst>
          </p:cNvPr>
          <p:cNvSpPr>
            <a:spLocks noGrp="1"/>
          </p:cNvSpPr>
          <p:nvPr>
            <p:ph type="dt" sz="half" idx="10"/>
          </p:nvPr>
        </p:nvSpPr>
        <p:spPr>
          <a:xfrm>
            <a:off x="457199" y="6397586"/>
            <a:ext cx="4043855" cy="365125"/>
          </a:xfrm>
        </p:spPr>
        <p:txBody>
          <a:bodyPr/>
          <a:lstStyle/>
          <a:p>
            <a:pPr>
              <a:spcAft>
                <a:spcPts val="600"/>
              </a:spcAft>
            </a:pPr>
            <a:fld id="{D4373491-7B77-49C6-AD2D-C13ED48C2EBA}" type="datetime1">
              <a:rPr lang="en-US" smtClean="0"/>
              <a:pPr>
                <a:spcAft>
                  <a:spcPts val="600"/>
                </a:spcAft>
              </a:pPr>
              <a:t>2/21/2026</a:t>
            </a:fld>
            <a:endParaRPr lang="en-US"/>
          </a:p>
        </p:txBody>
      </p:sp>
    </p:spTree>
    <p:extLst>
      <p:ext uri="{BB962C8B-B14F-4D97-AF65-F5344CB8AC3E}">
        <p14:creationId xmlns:p14="http://schemas.microsoft.com/office/powerpoint/2010/main" val="1697648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9F441-D5E3-E489-038B-CFEA05327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0E862-F63D-846E-BBBD-2CFDA6E049DE}"/>
              </a:ext>
            </a:extLst>
          </p:cNvPr>
          <p:cNvSpPr>
            <a:spLocks noGrp="1"/>
          </p:cNvSpPr>
          <p:nvPr>
            <p:ph type="title"/>
          </p:nvPr>
        </p:nvSpPr>
        <p:spPr>
          <a:xfrm>
            <a:off x="457199" y="457201"/>
            <a:ext cx="10898189" cy="693682"/>
          </a:xfrm>
        </p:spPr>
        <p:txBody>
          <a:bodyPr anchor="t">
            <a:normAutofit/>
          </a:bodyPr>
          <a:lstStyle/>
          <a:p>
            <a:r>
              <a:rPr lang="en-US" sz="2000" b="1" cap="all" dirty="0">
                <a:solidFill>
                  <a:srgbClr val="2A38D5"/>
                </a:solidFill>
              </a:rPr>
              <a:t>Best Practices</a:t>
            </a:r>
            <a:br>
              <a:rPr lang="en-US" sz="2000" b="1" cap="all" dirty="0"/>
            </a:br>
            <a:r>
              <a:rPr lang="en-US" sz="2000" b="1" cap="all">
                <a:solidFill>
                  <a:srgbClr val="2A38D5"/>
                </a:solidFill>
              </a:rPr>
              <a:t>Practice #4: Debrief after pager Events</a:t>
            </a:r>
            <a:endParaRPr lang="en-US" sz="2000" cap="all">
              <a:solidFill>
                <a:srgbClr val="000000"/>
              </a:solidFill>
            </a:endParaRPr>
          </a:p>
          <a:p>
            <a:endParaRPr lang="en-US" sz="2000" b="1" cap="all" dirty="0">
              <a:solidFill>
                <a:srgbClr val="2A38D5"/>
              </a:solidFill>
            </a:endParaRPr>
          </a:p>
        </p:txBody>
      </p:sp>
      <p:sp>
        <p:nvSpPr>
          <p:cNvPr id="3" name="Subtitle 2">
            <a:extLst>
              <a:ext uri="{FF2B5EF4-FFF2-40B4-BE49-F238E27FC236}">
                <a16:creationId xmlns:a16="http://schemas.microsoft.com/office/drawing/2014/main" id="{4997CF7E-E2E1-7237-1204-54426CA66C8F}"/>
              </a:ext>
            </a:extLst>
          </p:cNvPr>
          <p:cNvSpPr>
            <a:spLocks noGrp="1"/>
          </p:cNvSpPr>
          <p:nvPr>
            <p:ph type="body" idx="1"/>
          </p:nvPr>
        </p:nvSpPr>
        <p:spPr>
          <a:xfrm>
            <a:off x="457200" y="1595300"/>
            <a:ext cx="5262890" cy="534033"/>
          </a:xfrm>
        </p:spPr>
        <p:txBody>
          <a:bodyPr vert="horz" lIns="91440" tIns="45720" rIns="91440" bIns="45720" rtlCol="0" anchor="b">
            <a:normAutofit/>
          </a:bodyPr>
          <a:lstStyle/>
          <a:p>
            <a:r>
              <a:rPr lang="en-US"/>
              <a:t>Key Principles</a:t>
            </a:r>
          </a:p>
        </p:txBody>
      </p:sp>
      <p:sp>
        <p:nvSpPr>
          <p:cNvPr id="4" name="TextBox 3">
            <a:extLst>
              <a:ext uri="{FF2B5EF4-FFF2-40B4-BE49-F238E27FC236}">
                <a16:creationId xmlns:a16="http://schemas.microsoft.com/office/drawing/2014/main" id="{EF30D877-3AF2-74CA-8850-1093452CBC09}"/>
              </a:ext>
            </a:extLst>
          </p:cNvPr>
          <p:cNvSpPr txBox="1"/>
          <p:nvPr/>
        </p:nvSpPr>
        <p:spPr>
          <a:xfrm>
            <a:off x="457199" y="2271365"/>
            <a:ext cx="5262891" cy="376396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Bef>
                <a:spcPts val="1000"/>
              </a:spcBef>
            </a:pPr>
            <a:r>
              <a:rPr lang="en-US" sz="2000" dirty="0">
                <a:solidFill>
                  <a:schemeClr val="tx2"/>
                </a:solidFill>
              </a:rPr>
              <a:t>Conduct post-incident reviews after events occur to make sure process was followed </a:t>
            </a:r>
            <a:r>
              <a:rPr lang="en-US" sz="2000">
                <a:solidFill>
                  <a:schemeClr val="tx2"/>
                </a:solidFill>
              </a:rPr>
              <a:t>through quickly and effectively.</a:t>
            </a:r>
          </a:p>
          <a:p>
            <a:pPr>
              <a:spcBef>
                <a:spcPts val="1000"/>
              </a:spcBef>
            </a:pPr>
            <a:r>
              <a:rPr lang="en-US" sz="2000" dirty="0">
                <a:solidFill>
                  <a:schemeClr val="tx2"/>
                </a:solidFill>
              </a:rPr>
              <a:t>Use reviews and experience to iterate and improve response times, methods, and documentation.</a:t>
            </a:r>
          </a:p>
        </p:txBody>
      </p:sp>
      <p:sp>
        <p:nvSpPr>
          <p:cNvPr id="29" name="Text Placeholder 4">
            <a:extLst>
              <a:ext uri="{FF2B5EF4-FFF2-40B4-BE49-F238E27FC236}">
                <a16:creationId xmlns:a16="http://schemas.microsoft.com/office/drawing/2014/main" id="{359BE847-AC75-501C-1E3D-F12E21B794AD}"/>
              </a:ext>
            </a:extLst>
          </p:cNvPr>
          <p:cNvSpPr>
            <a:spLocks noGrp="1"/>
          </p:cNvSpPr>
          <p:nvPr>
            <p:ph type="body" sz="quarter" idx="3"/>
          </p:nvPr>
        </p:nvSpPr>
        <p:spPr>
          <a:xfrm>
            <a:off x="6172200" y="1595300"/>
            <a:ext cx="5183188" cy="534033"/>
          </a:xfrm>
        </p:spPr>
        <p:txBody>
          <a:bodyPr/>
          <a:lstStyle/>
          <a:p>
            <a:r>
              <a:rPr lang="en-US">
                <a:solidFill>
                  <a:srgbClr val="2A38D5"/>
                </a:solidFill>
              </a:rPr>
              <a:t>Benefits</a:t>
            </a:r>
            <a:r>
              <a:rPr lang="en-US" dirty="0">
                <a:solidFill>
                  <a:srgbClr val="2A38D5"/>
                </a:solidFill>
              </a:rPr>
              <a:t> in Practice</a:t>
            </a:r>
            <a:endParaRPr lang="en-US" dirty="0"/>
          </a:p>
        </p:txBody>
      </p:sp>
      <p:sp>
        <p:nvSpPr>
          <p:cNvPr id="30" name="Text Placeholder 5">
            <a:extLst>
              <a:ext uri="{FF2B5EF4-FFF2-40B4-BE49-F238E27FC236}">
                <a16:creationId xmlns:a16="http://schemas.microsoft.com/office/drawing/2014/main" id="{D2056257-D95E-8863-BF77-26CA0177A1FF}"/>
              </a:ext>
            </a:extLst>
          </p:cNvPr>
          <p:cNvSpPr>
            <a:spLocks noGrp="1"/>
          </p:cNvSpPr>
          <p:nvPr>
            <p:ph type="body" sz="quarter" idx="14"/>
          </p:nvPr>
        </p:nvSpPr>
        <p:spPr>
          <a:xfrm>
            <a:off x="6172200" y="2271365"/>
            <a:ext cx="5183188" cy="3763963"/>
          </a:xfrm>
        </p:spPr>
        <p:txBody>
          <a:bodyPr vert="horz" lIns="91440" tIns="45720" rIns="91440" bIns="45720" rtlCol="0" anchor="t">
            <a:normAutofit/>
          </a:bodyPr>
          <a:lstStyle/>
          <a:p>
            <a:pPr marL="285750" indent="-285750">
              <a:lnSpc>
                <a:spcPct val="100000"/>
              </a:lnSpc>
              <a:buFont typeface="Wingdings" panose="020B0604020202020204" pitchFamily="34" charset="0"/>
              <a:buChar char="ü"/>
            </a:pPr>
            <a:r>
              <a:rPr lang="en-US"/>
              <a:t>Better future response to similar incidents</a:t>
            </a:r>
            <a:endParaRPr lang="en-US" i="1" dirty="0">
              <a:solidFill>
                <a:srgbClr val="1D1D1D"/>
              </a:solidFill>
            </a:endParaRPr>
          </a:p>
          <a:p>
            <a:pPr marL="285750" indent="-285750">
              <a:lnSpc>
                <a:spcPct val="100000"/>
              </a:lnSpc>
              <a:buFont typeface="Wingdings" panose="020B0604020202020204" pitchFamily="34" charset="0"/>
              <a:buChar char="ü"/>
            </a:pPr>
            <a:r>
              <a:rPr lang="en-US"/>
              <a:t>Builds team and company knowledge of potential incidents</a:t>
            </a:r>
            <a:endParaRPr lang="en-US" dirty="0"/>
          </a:p>
          <a:p>
            <a:pPr marL="285750" indent="-285750">
              <a:lnSpc>
                <a:spcPct val="100000"/>
              </a:lnSpc>
              <a:buFont typeface="Wingdings" panose="020B0604020202020204" pitchFamily="34" charset="0"/>
              <a:buChar char="ü"/>
            </a:pPr>
            <a:r>
              <a:rPr lang="en-US"/>
              <a:t>Reduces repeat failures</a:t>
            </a:r>
            <a:endParaRPr lang="en-US" dirty="0"/>
          </a:p>
          <a:p>
            <a:pPr marL="342900" indent="-342900">
              <a:buFont typeface="Wingdings" panose="020B0604020202020204" pitchFamily="34" charset="0"/>
              <a:buChar char="ü"/>
            </a:pPr>
            <a:endParaRPr lang="en-US" sz="2000" dirty="0"/>
          </a:p>
          <a:p>
            <a:pPr marL="285750" indent="-285750">
              <a:buFont typeface="Wingdings" panose="020B0604020202020204" pitchFamily="34" charset="0"/>
              <a:buChar char="ü"/>
            </a:pPr>
            <a:endParaRPr lang="en-US" dirty="0"/>
          </a:p>
        </p:txBody>
      </p:sp>
      <p:sp>
        <p:nvSpPr>
          <p:cNvPr id="31" name="Date Placeholder 6">
            <a:extLst>
              <a:ext uri="{FF2B5EF4-FFF2-40B4-BE49-F238E27FC236}">
                <a16:creationId xmlns:a16="http://schemas.microsoft.com/office/drawing/2014/main" id="{E0FF8AA4-F3A6-E662-489E-EF3243D5CA9A}"/>
              </a:ext>
            </a:extLst>
          </p:cNvPr>
          <p:cNvSpPr>
            <a:spLocks noGrp="1"/>
          </p:cNvSpPr>
          <p:nvPr>
            <p:ph type="dt" sz="half" idx="10"/>
          </p:nvPr>
        </p:nvSpPr>
        <p:spPr>
          <a:xfrm>
            <a:off x="457199" y="6397586"/>
            <a:ext cx="4043855" cy="365125"/>
          </a:xfrm>
        </p:spPr>
        <p:txBody>
          <a:bodyPr/>
          <a:lstStyle/>
          <a:p>
            <a:pPr>
              <a:spcAft>
                <a:spcPts val="600"/>
              </a:spcAft>
            </a:pPr>
            <a:fld id="{D4373491-7B77-49C6-AD2D-C13ED48C2EBA}" type="datetime1">
              <a:rPr lang="en-US" smtClean="0"/>
              <a:pPr>
                <a:spcAft>
                  <a:spcPts val="600"/>
                </a:spcAft>
              </a:pPr>
              <a:t>2/21/2026</a:t>
            </a:fld>
            <a:endParaRPr lang="en-US"/>
          </a:p>
        </p:txBody>
      </p:sp>
      <p:pic>
        <p:nvPicPr>
          <p:cNvPr id="5" name="Picture 4" descr="A white button with black text&#10;&#10;AI-generated content may be incorrect.">
            <a:extLst>
              <a:ext uri="{FF2B5EF4-FFF2-40B4-BE49-F238E27FC236}">
                <a16:creationId xmlns:a16="http://schemas.microsoft.com/office/drawing/2014/main" id="{62C0F37A-3CE1-2DAC-E35C-6AA49EA81785}"/>
              </a:ext>
            </a:extLst>
          </p:cNvPr>
          <p:cNvPicPr>
            <a:picLocks noChangeAspect="1"/>
          </p:cNvPicPr>
          <p:nvPr/>
        </p:nvPicPr>
        <p:blipFill>
          <a:blip r:embed="rId2"/>
          <a:stretch>
            <a:fillRect/>
          </a:stretch>
        </p:blipFill>
        <p:spPr>
          <a:xfrm>
            <a:off x="9528198" y="4359110"/>
            <a:ext cx="2143125" cy="2143125"/>
          </a:xfrm>
          <a:prstGeom prst="rect">
            <a:avLst/>
          </a:prstGeom>
        </p:spPr>
      </p:pic>
    </p:spTree>
    <p:extLst>
      <p:ext uri="{BB962C8B-B14F-4D97-AF65-F5344CB8AC3E}">
        <p14:creationId xmlns:p14="http://schemas.microsoft.com/office/powerpoint/2010/main" val="114369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9D71-1159-FAED-C806-2409658D3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C59E1-A36B-36BA-EE6E-E61AF31C0C2B}"/>
              </a:ext>
            </a:extLst>
          </p:cNvPr>
          <p:cNvSpPr>
            <a:spLocks noGrp="1"/>
          </p:cNvSpPr>
          <p:nvPr>
            <p:ph type="title"/>
          </p:nvPr>
        </p:nvSpPr>
        <p:spPr>
          <a:xfrm>
            <a:off x="457199" y="457201"/>
            <a:ext cx="10898189" cy="693682"/>
          </a:xfrm>
        </p:spPr>
        <p:txBody>
          <a:bodyPr anchor="t">
            <a:normAutofit/>
          </a:bodyPr>
          <a:lstStyle/>
          <a:p>
            <a:r>
              <a:rPr lang="en-US" sz="2000" b="1" cap="all" dirty="0">
                <a:solidFill>
                  <a:srgbClr val="2A38D5"/>
                </a:solidFill>
              </a:rPr>
              <a:t>Best Practices</a:t>
            </a:r>
            <a:br>
              <a:rPr lang="en-US" sz="2000" b="1" cap="all" dirty="0"/>
            </a:br>
            <a:r>
              <a:rPr lang="en-US" sz="2000" b="1" cap="all">
                <a:solidFill>
                  <a:srgbClr val="2A38D5"/>
                </a:solidFill>
              </a:rPr>
              <a:t>Practice #5: Respect work-life balance</a:t>
            </a:r>
            <a:endParaRPr lang="en-US" sz="2000" cap="all">
              <a:solidFill>
                <a:srgbClr val="000000"/>
              </a:solidFill>
            </a:endParaRPr>
          </a:p>
        </p:txBody>
      </p:sp>
      <p:sp>
        <p:nvSpPr>
          <p:cNvPr id="3" name="Subtitle 2">
            <a:extLst>
              <a:ext uri="{FF2B5EF4-FFF2-40B4-BE49-F238E27FC236}">
                <a16:creationId xmlns:a16="http://schemas.microsoft.com/office/drawing/2014/main" id="{EAD61A28-505F-3C73-E117-A7867090990A}"/>
              </a:ext>
            </a:extLst>
          </p:cNvPr>
          <p:cNvSpPr>
            <a:spLocks noGrp="1"/>
          </p:cNvSpPr>
          <p:nvPr>
            <p:ph type="body" idx="1"/>
          </p:nvPr>
        </p:nvSpPr>
        <p:spPr>
          <a:xfrm>
            <a:off x="457200" y="1595300"/>
            <a:ext cx="5262890" cy="534033"/>
          </a:xfrm>
        </p:spPr>
        <p:txBody>
          <a:bodyPr vert="horz" lIns="91440" tIns="45720" rIns="91440" bIns="45720" rtlCol="0" anchor="b">
            <a:normAutofit/>
          </a:bodyPr>
          <a:lstStyle/>
          <a:p>
            <a:r>
              <a:rPr lang="en-US"/>
              <a:t>Key Principles</a:t>
            </a:r>
          </a:p>
        </p:txBody>
      </p:sp>
      <p:sp>
        <p:nvSpPr>
          <p:cNvPr id="4" name="TextBox 3">
            <a:extLst>
              <a:ext uri="{FF2B5EF4-FFF2-40B4-BE49-F238E27FC236}">
                <a16:creationId xmlns:a16="http://schemas.microsoft.com/office/drawing/2014/main" id="{E85F514D-AB90-F28A-6561-F99F8B48C34B}"/>
              </a:ext>
            </a:extLst>
          </p:cNvPr>
          <p:cNvSpPr txBox="1"/>
          <p:nvPr/>
        </p:nvSpPr>
        <p:spPr>
          <a:xfrm>
            <a:off x="457199" y="2271365"/>
            <a:ext cx="5262891" cy="376396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Bef>
                <a:spcPts val="1000"/>
              </a:spcBef>
            </a:pPr>
            <a:r>
              <a:rPr lang="en-US" dirty="0"/>
              <a:t>Ensure that team members are equally sharing pager responsibility on both Developer and Operations teams. Allow for employee personal time and needs to be met, and ensure employees are compensated fairly </a:t>
            </a:r>
            <a:r>
              <a:rPr lang="en-US"/>
              <a:t>for on-call times.</a:t>
            </a:r>
            <a:endParaRPr lang="en-US" dirty="0"/>
          </a:p>
          <a:p>
            <a:pPr>
              <a:spcBef>
                <a:spcPts val="1000"/>
              </a:spcBef>
            </a:pPr>
            <a:r>
              <a:rPr lang="en-US" i="1" dirty="0"/>
              <a:t>"</a:t>
            </a:r>
            <a:r>
              <a:rPr lang="en-US" i="1" dirty="0">
                <a:latin typeface="Bierstadt"/>
                <a:ea typeface="Roboto"/>
                <a:cs typeface="Roboto"/>
              </a:rPr>
              <a:t>The key to keeping a healthy, fair, and equitable balance of on-call work and personal life is flexibility." (Google </a:t>
            </a:r>
            <a:r>
              <a:rPr lang="en-US" i="1" dirty="0" err="1">
                <a:latin typeface="Bierstadt"/>
                <a:ea typeface="Roboto"/>
                <a:cs typeface="Roboto"/>
              </a:rPr>
              <a:t>OnCall</a:t>
            </a:r>
            <a:r>
              <a:rPr lang="en-US" i="1" dirty="0">
                <a:latin typeface="Bierstadt"/>
                <a:ea typeface="Roboto"/>
                <a:cs typeface="Roboto"/>
              </a:rPr>
              <a:t>)</a:t>
            </a:r>
            <a:endParaRPr lang="en-US" i="1">
              <a:latin typeface="Bierstadt"/>
            </a:endParaRPr>
          </a:p>
        </p:txBody>
      </p:sp>
      <p:sp>
        <p:nvSpPr>
          <p:cNvPr id="29" name="Text Placeholder 4">
            <a:extLst>
              <a:ext uri="{FF2B5EF4-FFF2-40B4-BE49-F238E27FC236}">
                <a16:creationId xmlns:a16="http://schemas.microsoft.com/office/drawing/2014/main" id="{D31D9F3F-5C10-B514-C440-21928B8B3DD4}"/>
              </a:ext>
            </a:extLst>
          </p:cNvPr>
          <p:cNvSpPr>
            <a:spLocks noGrp="1"/>
          </p:cNvSpPr>
          <p:nvPr>
            <p:ph type="body" sz="quarter" idx="3"/>
          </p:nvPr>
        </p:nvSpPr>
        <p:spPr>
          <a:xfrm>
            <a:off x="6172200" y="1595300"/>
            <a:ext cx="5183188" cy="534033"/>
          </a:xfrm>
        </p:spPr>
        <p:txBody>
          <a:bodyPr/>
          <a:lstStyle/>
          <a:p>
            <a:r>
              <a:rPr lang="en-US">
                <a:solidFill>
                  <a:srgbClr val="2A38D5"/>
                </a:solidFill>
              </a:rPr>
              <a:t>Important policies</a:t>
            </a:r>
            <a:endParaRPr lang="en-US"/>
          </a:p>
        </p:txBody>
      </p:sp>
      <p:sp>
        <p:nvSpPr>
          <p:cNvPr id="30" name="Text Placeholder 5">
            <a:extLst>
              <a:ext uri="{FF2B5EF4-FFF2-40B4-BE49-F238E27FC236}">
                <a16:creationId xmlns:a16="http://schemas.microsoft.com/office/drawing/2014/main" id="{0D336710-1F2F-6575-6D97-1C9381AD52FC}"/>
              </a:ext>
            </a:extLst>
          </p:cNvPr>
          <p:cNvSpPr>
            <a:spLocks noGrp="1"/>
          </p:cNvSpPr>
          <p:nvPr>
            <p:ph type="body" sz="quarter" idx="14"/>
          </p:nvPr>
        </p:nvSpPr>
        <p:spPr>
          <a:xfrm>
            <a:off x="6172200" y="2271365"/>
            <a:ext cx="5183188" cy="3763963"/>
          </a:xfrm>
        </p:spPr>
        <p:txBody>
          <a:bodyPr vert="horz" lIns="91440" tIns="45720" rIns="91440" bIns="45720" rtlCol="0" anchor="t">
            <a:normAutofit/>
          </a:bodyPr>
          <a:lstStyle/>
          <a:p>
            <a:pPr marL="285750" indent="-285750">
              <a:lnSpc>
                <a:spcPct val="100000"/>
              </a:lnSpc>
              <a:buFont typeface="Wingdings" panose="020B0604020202020204" pitchFamily="34" charset="0"/>
              <a:buChar char="ü"/>
            </a:pPr>
            <a:r>
              <a:rPr lang="en-US"/>
              <a:t>Minimum Time Off requirements between on-call rotations.</a:t>
            </a:r>
            <a:endParaRPr lang="en-US" i="1" dirty="0"/>
          </a:p>
          <a:p>
            <a:pPr marL="285750" indent="-285750">
              <a:lnSpc>
                <a:spcPct val="100000"/>
              </a:lnSpc>
              <a:buFont typeface="Wingdings" panose="020B0604020202020204" pitchFamily="34" charset="0"/>
              <a:buChar char="ü"/>
            </a:pPr>
            <a:r>
              <a:rPr lang="en-US" dirty="0"/>
              <a:t>Fair dist</a:t>
            </a:r>
            <a:r>
              <a:rPr lang="en-US"/>
              <a:t>ribution of weekends and holidays as needed for company operations.</a:t>
            </a:r>
            <a:endParaRPr lang="en-US" dirty="0"/>
          </a:p>
          <a:p>
            <a:pPr marL="285750" indent="-285750">
              <a:lnSpc>
                <a:spcPct val="100000"/>
              </a:lnSpc>
              <a:buFont typeface="Wingdings" panose="020B0604020202020204" pitchFamily="34" charset="0"/>
              <a:buChar char="ü"/>
            </a:pPr>
            <a:r>
              <a:rPr lang="en-US" dirty="0"/>
              <a:t>Extended time off considerations for major </a:t>
            </a:r>
            <a:r>
              <a:rPr lang="en-US"/>
              <a:t>response events or incidents</a:t>
            </a:r>
            <a:endParaRPr lang="en-US" dirty="0"/>
          </a:p>
          <a:p>
            <a:pPr marL="285750" indent="-285750">
              <a:buFont typeface="Wingdings" panose="020B0604020202020204" pitchFamily="34" charset="0"/>
              <a:buChar char="ü"/>
            </a:pPr>
            <a:endParaRPr lang="en-US" dirty="0"/>
          </a:p>
        </p:txBody>
      </p:sp>
      <p:sp>
        <p:nvSpPr>
          <p:cNvPr id="31" name="Date Placeholder 6">
            <a:extLst>
              <a:ext uri="{FF2B5EF4-FFF2-40B4-BE49-F238E27FC236}">
                <a16:creationId xmlns:a16="http://schemas.microsoft.com/office/drawing/2014/main" id="{DC5DF33E-C148-A65C-A989-D8CA82E072E8}"/>
              </a:ext>
            </a:extLst>
          </p:cNvPr>
          <p:cNvSpPr>
            <a:spLocks noGrp="1"/>
          </p:cNvSpPr>
          <p:nvPr>
            <p:ph type="dt" sz="half" idx="10"/>
          </p:nvPr>
        </p:nvSpPr>
        <p:spPr>
          <a:xfrm>
            <a:off x="457199" y="6397586"/>
            <a:ext cx="4043855" cy="365125"/>
          </a:xfrm>
        </p:spPr>
        <p:txBody>
          <a:bodyPr/>
          <a:lstStyle/>
          <a:p>
            <a:pPr>
              <a:spcAft>
                <a:spcPts val="600"/>
              </a:spcAft>
            </a:pPr>
            <a:fld id="{D4373491-7B77-49C6-AD2D-C13ED48C2EBA}" type="datetime1">
              <a:rPr lang="en-US" smtClean="0"/>
              <a:pPr>
                <a:spcAft>
                  <a:spcPts val="600"/>
                </a:spcAft>
              </a:pPr>
              <a:t>2/21/2026</a:t>
            </a:fld>
            <a:endParaRPr lang="en-US"/>
          </a:p>
        </p:txBody>
      </p:sp>
      <p:pic>
        <p:nvPicPr>
          <p:cNvPr id="5" name="Picture 4" descr="A person balancing on a tightrope with balances of food and a bag of money&#10;&#10;AI-generated content may be incorrect.">
            <a:extLst>
              <a:ext uri="{FF2B5EF4-FFF2-40B4-BE49-F238E27FC236}">
                <a16:creationId xmlns:a16="http://schemas.microsoft.com/office/drawing/2014/main" id="{7D92D89D-0AAB-EFBE-7634-535B22B2B191}"/>
              </a:ext>
            </a:extLst>
          </p:cNvPr>
          <p:cNvPicPr>
            <a:picLocks noChangeAspect="1"/>
          </p:cNvPicPr>
          <p:nvPr/>
        </p:nvPicPr>
        <p:blipFill>
          <a:blip r:embed="rId2"/>
          <a:stretch>
            <a:fillRect/>
          </a:stretch>
        </p:blipFill>
        <p:spPr>
          <a:xfrm>
            <a:off x="9374732" y="4857466"/>
            <a:ext cx="2495550" cy="1828800"/>
          </a:xfrm>
          <a:prstGeom prst="rect">
            <a:avLst/>
          </a:prstGeom>
        </p:spPr>
      </p:pic>
    </p:spTree>
    <p:extLst>
      <p:ext uri="{BB962C8B-B14F-4D97-AF65-F5344CB8AC3E}">
        <p14:creationId xmlns:p14="http://schemas.microsoft.com/office/powerpoint/2010/main" val="2825596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a:xfrm>
            <a:off x="457200" y="457200"/>
            <a:ext cx="7084142" cy="968895"/>
          </a:xfrm>
        </p:spPr>
        <p:txBody>
          <a:bodyPr anchor="b">
            <a:normAutofit/>
          </a:bodyPr>
          <a:lstStyle/>
          <a:p>
            <a:r>
              <a:rPr lang="en-US" sz="3000"/>
              <a:t>How is Pager Rotation a Piece of DevOps?</a:t>
            </a:r>
          </a:p>
        </p:txBody>
      </p:sp>
      <p:sp>
        <p:nvSpPr>
          <p:cNvPr id="17" name="Date Placeholder 3">
            <a:extLst>
              <a:ext uri="{FF2B5EF4-FFF2-40B4-BE49-F238E27FC236}">
                <a16:creationId xmlns:a16="http://schemas.microsoft.com/office/drawing/2014/main" id="{011027F7-C84A-FDF9-9B26-4E72813AFBD0}"/>
              </a:ext>
            </a:extLst>
          </p:cNvPr>
          <p:cNvSpPr>
            <a:spLocks noGrp="1"/>
          </p:cNvSpPr>
          <p:nvPr>
            <p:ph type="dt" sz="half" idx="15"/>
          </p:nvPr>
        </p:nvSpPr>
        <p:spPr>
          <a:xfrm>
            <a:off x="457200" y="6397586"/>
            <a:ext cx="3643070" cy="365125"/>
          </a:xfrm>
        </p:spPr>
        <p:txBody>
          <a:bodyPr/>
          <a:lstStyle/>
          <a:p>
            <a:pPr>
              <a:spcAft>
                <a:spcPts val="600"/>
              </a:spcAft>
            </a:pPr>
            <a:fld id="{4509B7BD-ED9F-4BE8-9CB0-6580F3DA5AD9}" type="datetime1">
              <a:rPr lang="en-US" smtClean="0"/>
              <a:pPr>
                <a:spcAft>
                  <a:spcPts val="600"/>
                </a:spcAft>
              </a:pPr>
              <a:t>2/21/2026</a:t>
            </a:fld>
            <a:endParaRPr lang="en-US"/>
          </a:p>
        </p:txBody>
      </p:sp>
      <p:pic>
        <p:nvPicPr>
          <p:cNvPr id="3" name="Picture 2" descr="A symbol of a software development&#10;&#10;AI-generated content may be incorrect.">
            <a:extLst>
              <a:ext uri="{FF2B5EF4-FFF2-40B4-BE49-F238E27FC236}">
                <a16:creationId xmlns:a16="http://schemas.microsoft.com/office/drawing/2014/main" id="{A4883CF1-6B80-DD3F-B959-8F0FBAC4DD54}"/>
              </a:ext>
            </a:extLst>
          </p:cNvPr>
          <p:cNvPicPr>
            <a:picLocks noChangeAspect="1"/>
          </p:cNvPicPr>
          <p:nvPr/>
        </p:nvPicPr>
        <p:blipFill>
          <a:blip r:embed="rId3"/>
          <a:stretch>
            <a:fillRect/>
          </a:stretch>
        </p:blipFill>
        <p:spPr>
          <a:xfrm>
            <a:off x="8091732" y="2309519"/>
            <a:ext cx="4100267" cy="2238961"/>
          </a:xfrm>
          <a:prstGeom prst="rect">
            <a:avLst/>
          </a:prstGeom>
          <a:noFill/>
        </p:spPr>
      </p:pic>
      <p:graphicFrame>
        <p:nvGraphicFramePr>
          <p:cNvPr id="6" name="Table 5">
            <a:extLst>
              <a:ext uri="{FF2B5EF4-FFF2-40B4-BE49-F238E27FC236}">
                <a16:creationId xmlns:a16="http://schemas.microsoft.com/office/drawing/2014/main" id="{214E1E1D-E4DF-5172-5DA9-B5E5151C6564}"/>
              </a:ext>
            </a:extLst>
          </p:cNvPr>
          <p:cNvGraphicFramePr>
            <a:graphicFrameLocks noGrp="1"/>
          </p:cNvGraphicFramePr>
          <p:nvPr>
            <p:extLst>
              <p:ext uri="{D42A27DB-BD31-4B8C-83A1-F6EECF244321}">
                <p14:modId xmlns:p14="http://schemas.microsoft.com/office/powerpoint/2010/main" val="1046633405"/>
              </p:ext>
            </p:extLst>
          </p:nvPr>
        </p:nvGraphicFramePr>
        <p:xfrm>
          <a:off x="645323" y="1596044"/>
          <a:ext cx="6707895" cy="4686770"/>
        </p:xfrm>
        <a:graphic>
          <a:graphicData uri="http://schemas.openxmlformats.org/drawingml/2006/table">
            <a:tbl>
              <a:tblPr firstRow="1" bandRow="1">
                <a:tableStyleId>{5C22544A-7EE6-4342-B048-85BDC9FD1C3A}</a:tableStyleId>
              </a:tblPr>
              <a:tblGrid>
                <a:gridCol w="3397733">
                  <a:extLst>
                    <a:ext uri="{9D8B030D-6E8A-4147-A177-3AD203B41FA5}">
                      <a16:colId xmlns:a16="http://schemas.microsoft.com/office/drawing/2014/main" val="1551833150"/>
                    </a:ext>
                  </a:extLst>
                </a:gridCol>
                <a:gridCol w="3310162">
                  <a:extLst>
                    <a:ext uri="{9D8B030D-6E8A-4147-A177-3AD203B41FA5}">
                      <a16:colId xmlns:a16="http://schemas.microsoft.com/office/drawing/2014/main" val="373702377"/>
                    </a:ext>
                  </a:extLst>
                </a:gridCol>
              </a:tblGrid>
              <a:tr h="462372">
                <a:tc>
                  <a:txBody>
                    <a:bodyPr/>
                    <a:lstStyle/>
                    <a:p>
                      <a:pPr algn="ctr"/>
                      <a:r>
                        <a:rPr lang="en-US" sz="2100" i="1"/>
                        <a:t>DevOps Key Principle</a:t>
                      </a:r>
                    </a:p>
                  </a:txBody>
                  <a:tcPr marL="105085" marR="105085" marT="52542" marB="52542"/>
                </a:tc>
                <a:tc>
                  <a:txBody>
                    <a:bodyPr/>
                    <a:lstStyle/>
                    <a:p>
                      <a:pPr algn="ctr"/>
                      <a:r>
                        <a:rPr lang="en-US" sz="2100" i="1"/>
                        <a:t>Pager Rotation Tie-In</a:t>
                      </a:r>
                    </a:p>
                  </a:txBody>
                  <a:tcPr marL="105085" marR="105085" marT="52542" marB="52542"/>
                </a:tc>
                <a:extLst>
                  <a:ext uri="{0D108BD9-81ED-4DB2-BD59-A6C34878D82A}">
                    <a16:rowId xmlns:a16="http://schemas.microsoft.com/office/drawing/2014/main" val="2294348426"/>
                  </a:ext>
                </a:extLst>
              </a:tr>
              <a:tr h="1092879">
                <a:tc>
                  <a:txBody>
                    <a:bodyPr/>
                    <a:lstStyle/>
                    <a:p>
                      <a:pPr algn="ctr"/>
                      <a:r>
                        <a:rPr lang="en-US" sz="2100" i="1"/>
                        <a:t>Culture of Shared Responsibility</a:t>
                      </a:r>
                    </a:p>
                  </a:txBody>
                  <a:tcPr marL="105085" marR="105085" marT="52542" marB="52542"/>
                </a:tc>
                <a:tc>
                  <a:txBody>
                    <a:bodyPr/>
                    <a:lstStyle/>
                    <a:p>
                      <a:pPr lvl="0" algn="ctr">
                        <a:buNone/>
                      </a:pPr>
                      <a:r>
                        <a:rPr lang="en-US" sz="2100" i="1"/>
                        <a:t>All team members are expected to share in rotations</a:t>
                      </a:r>
                    </a:p>
                  </a:txBody>
                  <a:tcPr marL="105085" marR="105085" marT="52542" marB="52542"/>
                </a:tc>
                <a:extLst>
                  <a:ext uri="{0D108BD9-81ED-4DB2-BD59-A6C34878D82A}">
                    <a16:rowId xmlns:a16="http://schemas.microsoft.com/office/drawing/2014/main" val="2203103667"/>
                  </a:ext>
                </a:extLst>
              </a:tr>
              <a:tr h="1408133">
                <a:tc>
                  <a:txBody>
                    <a:bodyPr/>
                    <a:lstStyle/>
                    <a:p>
                      <a:pPr algn="ctr"/>
                      <a:r>
                        <a:rPr lang="en-US" sz="2100" i="1"/>
                        <a:t>Continuous Feedback</a:t>
                      </a:r>
                    </a:p>
                  </a:txBody>
                  <a:tcPr marL="105085" marR="105085" marT="52542" marB="52542"/>
                </a:tc>
                <a:tc>
                  <a:txBody>
                    <a:bodyPr/>
                    <a:lstStyle/>
                    <a:p>
                      <a:pPr lvl="0" algn="ctr">
                        <a:buNone/>
                      </a:pPr>
                      <a:r>
                        <a:rPr lang="en-US" sz="2100" i="1"/>
                        <a:t>Debriefs after incidents allow for collecting feedback and iterating improvements</a:t>
                      </a:r>
                    </a:p>
                  </a:txBody>
                  <a:tcPr marL="105085" marR="105085" marT="52542" marB="52542"/>
                </a:tc>
                <a:extLst>
                  <a:ext uri="{0D108BD9-81ED-4DB2-BD59-A6C34878D82A}">
                    <a16:rowId xmlns:a16="http://schemas.microsoft.com/office/drawing/2014/main" val="3151155294"/>
                  </a:ext>
                </a:extLst>
              </a:tr>
              <a:tr h="1723386">
                <a:tc>
                  <a:txBody>
                    <a:bodyPr/>
                    <a:lstStyle/>
                    <a:p>
                      <a:pPr algn="ctr"/>
                      <a:r>
                        <a:rPr lang="en-US" sz="2100" i="1"/>
                        <a:t>Automate Where Possible</a:t>
                      </a:r>
                    </a:p>
                  </a:txBody>
                  <a:tcPr marL="105085" marR="105085" marT="52542" marB="52542"/>
                </a:tc>
                <a:tc>
                  <a:txBody>
                    <a:bodyPr/>
                    <a:lstStyle/>
                    <a:p>
                      <a:pPr algn="ctr"/>
                      <a:r>
                        <a:rPr lang="en-US" sz="2100" i="1"/>
                        <a:t>Implementing automation of alerting allows for less burnout and more critical issues getting immediate attention</a:t>
                      </a:r>
                    </a:p>
                  </a:txBody>
                  <a:tcPr marL="105085" marR="105085" marT="52542" marB="52542"/>
                </a:tc>
                <a:extLst>
                  <a:ext uri="{0D108BD9-81ED-4DB2-BD59-A6C34878D82A}">
                    <a16:rowId xmlns:a16="http://schemas.microsoft.com/office/drawing/2014/main" val="2720086806"/>
                  </a:ext>
                </a:extLst>
              </a:tr>
            </a:tbl>
          </a:graphicData>
        </a:graphic>
      </p:graphicFrame>
    </p:spTree>
    <p:extLst>
      <p:ext uri="{BB962C8B-B14F-4D97-AF65-F5344CB8AC3E}">
        <p14:creationId xmlns:p14="http://schemas.microsoft.com/office/powerpoint/2010/main" val="1941379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p:txBody>
          <a:bodyPr/>
          <a:lstStyle/>
          <a:p>
            <a:r>
              <a:rPr lang="en-US"/>
              <a:t>Key Takeaways</a:t>
            </a:r>
            <a:endParaRPr lang="en-US" dirty="0"/>
          </a:p>
        </p:txBody>
      </p:sp>
      <p:pic>
        <p:nvPicPr>
          <p:cNvPr id="6" name="Picture Placeholder 5" descr="A close up of a wall">
            <a:extLst>
              <a:ext uri="{FF2B5EF4-FFF2-40B4-BE49-F238E27FC236}">
                <a16:creationId xmlns:a16="http://schemas.microsoft.com/office/drawing/2014/main" id="{06F67A15-9C01-5611-BBA1-8F2F4FEFC446}"/>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sp>
        <p:nvSpPr>
          <p:cNvPr id="3" name="Content Placeholder 2">
            <a:extLst>
              <a:ext uri="{FF2B5EF4-FFF2-40B4-BE49-F238E27FC236}">
                <a16:creationId xmlns:a16="http://schemas.microsoft.com/office/drawing/2014/main" id="{A36B70B6-B9DD-8293-E045-C9E0BE21FEB2}"/>
              </a:ext>
            </a:extLst>
          </p:cNvPr>
          <p:cNvSpPr>
            <a:spLocks noGrp="1"/>
          </p:cNvSpPr>
          <p:nvPr>
            <p:ph sz="quarter" idx="14"/>
          </p:nvPr>
        </p:nvSpPr>
        <p:spPr>
          <a:xfrm>
            <a:off x="4541264" y="4744900"/>
            <a:ext cx="7062472" cy="1619323"/>
          </a:xfrm>
        </p:spPr>
        <p:txBody>
          <a:bodyPr vert="horz" lIns="91440" tIns="45720" rIns="91440" bIns="45720" rtlCol="0" anchor="t">
            <a:normAutofit/>
          </a:bodyPr>
          <a:lstStyle/>
          <a:p>
            <a:pPr marL="0" indent="0">
              <a:buNone/>
            </a:pPr>
            <a:r>
              <a:rPr lang="en-US" b="1"/>
              <a:t>In Summary,</a:t>
            </a:r>
            <a:endParaRPr lang="en-US" b="1" dirty="0"/>
          </a:p>
          <a:p>
            <a:pPr marL="0" indent="0">
              <a:buNone/>
            </a:pPr>
            <a:r>
              <a:rPr lang="en-US" dirty="0"/>
              <a:t>Use rotation tools, clear </a:t>
            </a:r>
            <a:r>
              <a:rPr lang="en-US"/>
              <a:t>documentation,</a:t>
            </a:r>
            <a:r>
              <a:rPr lang="en-US" dirty="0"/>
              <a:t> and foster good employee culture to make pager duty a key part of your team's DevOps excellence.</a:t>
            </a:r>
            <a:endParaRPr lang="en-US"/>
          </a:p>
        </p:txBody>
      </p:sp>
      <p:sp>
        <p:nvSpPr>
          <p:cNvPr id="7" name="Text Placeholder 5">
            <a:extLst>
              <a:ext uri="{FF2B5EF4-FFF2-40B4-BE49-F238E27FC236}">
                <a16:creationId xmlns:a16="http://schemas.microsoft.com/office/drawing/2014/main" id="{1244ADFE-2CB1-F025-F1CF-AE7A87E0D017}"/>
              </a:ext>
            </a:extLst>
          </p:cNvPr>
          <p:cNvSpPr txBox="1">
            <a:spLocks/>
          </p:cNvSpPr>
          <p:nvPr/>
        </p:nvSpPr>
        <p:spPr>
          <a:xfrm>
            <a:off x="4538133" y="1424698"/>
            <a:ext cx="5183188" cy="376396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Font typeface="Wingdings" panose="020B0604020202020204" pitchFamily="34" charset="0"/>
              <a:buChar char="ü"/>
            </a:pPr>
            <a:r>
              <a:rPr lang="en-US" dirty="0"/>
              <a:t>Pager Rotation should be fair, </a:t>
            </a:r>
            <a:r>
              <a:rPr lang="en-US"/>
              <a:t>predictable,</a:t>
            </a:r>
            <a:r>
              <a:rPr lang="en-US" dirty="0"/>
              <a:t> and shared across teams.</a:t>
            </a:r>
            <a:endParaRPr lang="en-US" i="1" dirty="0"/>
          </a:p>
          <a:p>
            <a:pPr marL="285750" indent="-285750">
              <a:buFont typeface="Wingdings" panose="020B0604020202020204" pitchFamily="34" charset="0"/>
              <a:buChar char="ü"/>
            </a:pPr>
            <a:r>
              <a:rPr lang="en-US"/>
              <a:t>Proper alerting tools and thresholds are essential</a:t>
            </a:r>
          </a:p>
          <a:p>
            <a:pPr marL="285750" indent="-285750">
              <a:buFont typeface="Wingdings" panose="020B0604020202020204" pitchFamily="34" charset="0"/>
              <a:buChar char="ü"/>
            </a:pPr>
            <a:r>
              <a:rPr lang="en-US"/>
              <a:t>Debriefs after events improve future response and reliability</a:t>
            </a:r>
          </a:p>
          <a:p>
            <a:pPr marL="285750" indent="-285750">
              <a:buFont typeface="Wingdings" panose="020B0604020202020204" pitchFamily="34" charset="0"/>
              <a:buChar char="ü"/>
            </a:pPr>
            <a:r>
              <a:rPr lang="en-US" dirty="0"/>
              <a:t>Work-life balance must be </a:t>
            </a:r>
            <a:r>
              <a:rPr lang="en-US"/>
              <a:t>considered</a:t>
            </a:r>
            <a:r>
              <a:rPr lang="en-US" dirty="0"/>
              <a:t> and </a:t>
            </a:r>
            <a:r>
              <a:rPr lang="en-US"/>
              <a:t>respected.</a:t>
            </a:r>
          </a:p>
        </p:txBody>
      </p:sp>
    </p:spTree>
    <p:extLst>
      <p:ext uri="{BB962C8B-B14F-4D97-AF65-F5344CB8AC3E}">
        <p14:creationId xmlns:p14="http://schemas.microsoft.com/office/powerpoint/2010/main" val="187927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1D515-0DAE-D96F-0C9C-CA4236B4A8DF}"/>
              </a:ext>
            </a:extLst>
          </p:cNvPr>
          <p:cNvSpPr>
            <a:spLocks noGrp="1"/>
          </p:cNvSpPr>
          <p:nvPr>
            <p:ph type="title"/>
          </p:nvPr>
        </p:nvSpPr>
        <p:spPr>
          <a:xfrm>
            <a:off x="457200" y="457201"/>
            <a:ext cx="10809026" cy="693682"/>
          </a:xfrm>
        </p:spPr>
        <p:txBody>
          <a:bodyPr anchor="t">
            <a:normAutofit/>
          </a:bodyPr>
          <a:lstStyle/>
          <a:p>
            <a:r>
              <a:rPr lang="en-US"/>
              <a:t>References:</a:t>
            </a:r>
          </a:p>
        </p:txBody>
      </p:sp>
      <p:sp>
        <p:nvSpPr>
          <p:cNvPr id="4" name="Content Placeholder 3">
            <a:extLst>
              <a:ext uri="{FF2B5EF4-FFF2-40B4-BE49-F238E27FC236}">
                <a16:creationId xmlns:a16="http://schemas.microsoft.com/office/drawing/2014/main" id="{3B4FC4DE-A00C-FD26-5525-FD3A161CB71E}"/>
              </a:ext>
            </a:extLst>
          </p:cNvPr>
          <p:cNvSpPr>
            <a:spLocks noGrp="1"/>
          </p:cNvSpPr>
          <p:nvPr>
            <p:ph idx="1"/>
          </p:nvPr>
        </p:nvSpPr>
        <p:spPr>
          <a:xfrm>
            <a:off x="457201" y="1595301"/>
            <a:ext cx="10809026" cy="4714059"/>
          </a:xfrm>
        </p:spPr>
        <p:txBody>
          <a:bodyPr vert="horz" lIns="91440" tIns="45720" rIns="91440" bIns="45720" rtlCol="0">
            <a:normAutofit/>
          </a:bodyPr>
          <a:lstStyle/>
          <a:p>
            <a:r>
              <a:rPr lang="en-US"/>
              <a:t>Google. (n.d.). </a:t>
            </a:r>
            <a:r>
              <a:rPr lang="en-US" i="1"/>
              <a:t>On-call</a:t>
            </a:r>
            <a:r>
              <a:rPr lang="en-US"/>
              <a:t>. Google Site Reliability Engineering Workbook. </a:t>
            </a:r>
            <a:r>
              <a:rPr lang="en-US">
                <a:hlinkClick r:id="rId2"/>
              </a:rPr>
              <a:t>https://sre.google/workbook/on-call/</a:t>
            </a:r>
            <a:endParaRPr lang="en-US"/>
          </a:p>
          <a:p>
            <a:r>
              <a:rPr lang="en-US"/>
              <a:t>Humble, J., Farley, D., Kim, G., &amp; Debois, P. (2024). </a:t>
            </a:r>
            <a:r>
              <a:rPr lang="en-US" i="1"/>
              <a:t>The DevOps handbook: How to create world-class agility, reliability, and security in technology organizations</a:t>
            </a:r>
            <a:r>
              <a:rPr lang="en-US"/>
              <a:t> (2nd ed.). IT Revolution Press.</a:t>
            </a:r>
          </a:p>
          <a:p>
            <a:r>
              <a:rPr lang="en-US"/>
              <a:t>Moss, S. (n.d.). </a:t>
            </a:r>
            <a:r>
              <a:rPr lang="en-US" i="1"/>
              <a:t>DevOps on-call rotation setup</a:t>
            </a:r>
            <a:r>
              <a:rPr lang="en-US"/>
              <a:t>. Moss.sh. </a:t>
            </a:r>
            <a:r>
              <a:rPr lang="en-US">
                <a:hlinkClick r:id="rId3"/>
              </a:rPr>
              <a:t>https://moss.sh/devops-monitoring/devops-on-call-rotation-setup/</a:t>
            </a:r>
            <a:endParaRPr lang="en-US"/>
          </a:p>
          <a:p>
            <a:r>
              <a:rPr lang="en-US"/>
              <a:t>OpenAI. (2026). </a:t>
            </a:r>
            <a:r>
              <a:rPr lang="en-US" i="1"/>
              <a:t>ChatGPT</a:t>
            </a:r>
            <a:r>
              <a:rPr lang="en-US"/>
              <a:t> (GPT-5.2) [Large language model]. Used for reference generation only. </a:t>
            </a:r>
            <a:r>
              <a:rPr lang="en-US">
                <a:hlinkClick r:id="rId4"/>
              </a:rPr>
              <a:t>https://chat.openai.com/</a:t>
            </a:r>
            <a:endParaRPr lang="en-US"/>
          </a:p>
          <a:p>
            <a:r>
              <a:rPr lang="en-US"/>
              <a:t>PagerDuty. (n.d.). </a:t>
            </a:r>
            <a:r>
              <a:rPr lang="en-US" i="1"/>
              <a:t>Call rotations and schedules</a:t>
            </a:r>
            <a:r>
              <a:rPr lang="en-US"/>
              <a:t>. PagerDuty. </a:t>
            </a:r>
            <a:r>
              <a:rPr lang="en-US">
                <a:hlinkClick r:id="rId5"/>
              </a:rPr>
              <a:t>https://www.pagerduty.com/resources/incident-management-response/learn/call-rotations-schedules/</a:t>
            </a:r>
            <a:endParaRPr lang="en-US"/>
          </a:p>
          <a:p>
            <a:endParaRPr lang="en-US" dirty="0"/>
          </a:p>
        </p:txBody>
      </p:sp>
      <p:sp>
        <p:nvSpPr>
          <p:cNvPr id="5" name="Date Placeholder 4">
            <a:extLst>
              <a:ext uri="{FF2B5EF4-FFF2-40B4-BE49-F238E27FC236}">
                <a16:creationId xmlns:a16="http://schemas.microsoft.com/office/drawing/2014/main" id="{1118F43D-DA4C-2E37-5F2F-DCFA26FCF0F0}"/>
              </a:ext>
            </a:extLst>
          </p:cNvPr>
          <p:cNvSpPr>
            <a:spLocks noGrp="1"/>
          </p:cNvSpPr>
          <p:nvPr>
            <p:ph type="dt" sz="half" idx="10"/>
          </p:nvPr>
        </p:nvSpPr>
        <p:spPr>
          <a:xfrm>
            <a:off x="457199" y="6397586"/>
            <a:ext cx="4043855" cy="365125"/>
          </a:xfrm>
        </p:spPr>
        <p:txBody>
          <a:bodyPr anchor="ctr">
            <a:normAutofit/>
          </a:bodyPr>
          <a:lstStyle/>
          <a:p>
            <a:pPr>
              <a:spcAft>
                <a:spcPts val="600"/>
              </a:spcAft>
            </a:pPr>
            <a:fld id="{0A2676FB-3D7D-40C8-BF49-5420830A3578}" type="datetime1">
              <a:rPr lang="en-US" smtClean="0"/>
              <a:pPr>
                <a:spcAft>
                  <a:spcPts val="600"/>
                </a:spcAft>
              </a:pPr>
              <a:t>2/21/2026</a:t>
            </a:fld>
            <a:endParaRPr lang="en-US"/>
          </a:p>
        </p:txBody>
      </p:sp>
      <p:sp>
        <p:nvSpPr>
          <p:cNvPr id="7" name="Slide Number Placeholder 6">
            <a:extLst>
              <a:ext uri="{FF2B5EF4-FFF2-40B4-BE49-F238E27FC236}">
                <a16:creationId xmlns:a16="http://schemas.microsoft.com/office/drawing/2014/main" id="{30229FFB-F5D5-364C-1D44-764C19D0CED6}"/>
              </a:ext>
            </a:extLst>
          </p:cNvPr>
          <p:cNvSpPr>
            <a:spLocks noGrp="1"/>
          </p:cNvSpPr>
          <p:nvPr>
            <p:ph type="sldNum" sz="quarter" idx="12"/>
          </p:nvPr>
        </p:nvSpPr>
        <p:spPr>
          <a:xfrm>
            <a:off x="11562323" y="6397586"/>
            <a:ext cx="530578"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Tree>
    <p:extLst>
      <p:ext uri="{BB962C8B-B14F-4D97-AF65-F5344CB8AC3E}">
        <p14:creationId xmlns:p14="http://schemas.microsoft.com/office/powerpoint/2010/main" val="2605136078"/>
      </p:ext>
    </p:extLst>
  </p:cSld>
  <p:clrMapOvr>
    <a:masterClrMapping/>
  </p:clrMapOvr>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_win32_DN_V2" id="{35DA499A-085A-4E3E-92EC-48B4922E938B}" vid="{14DDC8D4-282F-4E4E-AFE2-B9DA7AC991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8AB7D1-0FFB-46E5-B5E0-44DC74B128B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DD6D019-CFF4-4D8F-9084-1FF56D307958}">
  <ds:schemaRefs>
    <ds:schemaRef ds:uri="http://schemas.microsoft.com/sharepoint/v3/contenttype/forms"/>
  </ds:schemaRefs>
</ds:datastoreItem>
</file>

<file path=customXml/itemProps3.xml><?xml version="1.0" encoding="utf-8"?>
<ds:datastoreItem xmlns:ds="http://schemas.openxmlformats.org/officeDocument/2006/customXml" ds:itemID="{9D6869B1-BDCE-49F8-A5AF-3EA6FB3BB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503</Words>
  <Application>Microsoft Office PowerPoint</Application>
  <PresentationFormat>Widescreen</PresentationFormat>
  <Paragraphs>74</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Bevel</vt:lpstr>
      <vt:lpstr>Best Practices for Pager Rotation in DevOps </vt:lpstr>
      <vt:lpstr>What is Pager Rotation?</vt:lpstr>
      <vt:lpstr>Why Does Pager Rotation Matter for DevOps?</vt:lpstr>
      <vt:lpstr>Best Practices Practice #1: Create Fair, Predictable Schedules. </vt:lpstr>
      <vt:lpstr>Best Practices Practice #2: Automate Alerts, Escalate only when needed. </vt:lpstr>
      <vt:lpstr>Best Practices Practice #3: Set Clear Alert Thresholds</vt:lpstr>
      <vt:lpstr>Best Practices Practice #4: Debrief after pager Events </vt:lpstr>
      <vt:lpstr>Best Practices Practice #5: Respect work-life balance</vt:lpstr>
      <vt:lpstr>How is Pager Rotation a Piece of DevOps?</vt:lpstr>
      <vt:lpstr>Key Takeaways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446</cp:revision>
  <dcterms:created xsi:type="dcterms:W3CDTF">2026-02-21T01:45:51Z</dcterms:created>
  <dcterms:modified xsi:type="dcterms:W3CDTF">2026-02-21T16:59:15Z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