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259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06B187-BCC4-4B59-81FA-33683867AFE4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A8EF2EF-48A0-449F-B0E0-41A53FE057CD}">
      <dgm:prSet/>
      <dgm:spPr/>
      <dgm:t>
        <a:bodyPr/>
        <a:lstStyle/>
        <a:p>
          <a:r>
            <a:rPr lang="en-US" dirty="0"/>
            <a:t>Customers will need to wait for the entire lead time, not just process time.</a:t>
          </a:r>
        </a:p>
      </dgm:t>
    </dgm:pt>
    <dgm:pt modelId="{9A77DD8E-10C1-4762-9B0D-DCBFF90A9EF8}" type="parTrans" cxnId="{25B38681-3588-414F-A1A3-71528BCFB06F}">
      <dgm:prSet/>
      <dgm:spPr/>
      <dgm:t>
        <a:bodyPr/>
        <a:lstStyle/>
        <a:p>
          <a:endParaRPr lang="en-US"/>
        </a:p>
      </dgm:t>
    </dgm:pt>
    <dgm:pt modelId="{ED7F79B5-73AD-4DEE-B12F-B824A968FCBE}" type="sibTrans" cxnId="{25B38681-3588-414F-A1A3-71528BCFB06F}">
      <dgm:prSet/>
      <dgm:spPr/>
      <dgm:t>
        <a:bodyPr/>
        <a:lstStyle/>
        <a:p>
          <a:endParaRPr lang="en-US"/>
        </a:p>
      </dgm:t>
    </dgm:pt>
    <dgm:pt modelId="{542C663D-C91B-4681-B2C9-21586CD5D95B}">
      <dgm:prSet/>
      <dgm:spPr/>
      <dgm:t>
        <a:bodyPr/>
        <a:lstStyle/>
        <a:p>
          <a:r>
            <a:rPr lang="en-US" dirty="0"/>
            <a:t>Even if coding takes only a few hours, delays caused by approvals, testing queues, mismanagement or handoffs can make delivery take weeks or months.</a:t>
          </a:r>
        </a:p>
      </dgm:t>
    </dgm:pt>
    <dgm:pt modelId="{E5A1E495-96CF-4F81-AC01-315E5515ADF7}" type="parTrans" cxnId="{4FFEF339-463D-43AD-97CA-E46FA0888694}">
      <dgm:prSet/>
      <dgm:spPr/>
      <dgm:t>
        <a:bodyPr/>
        <a:lstStyle/>
        <a:p>
          <a:endParaRPr lang="en-US"/>
        </a:p>
      </dgm:t>
    </dgm:pt>
    <dgm:pt modelId="{691919DD-2D0F-42AC-A828-2B426167AC5B}" type="sibTrans" cxnId="{4FFEF339-463D-43AD-97CA-E46FA0888694}">
      <dgm:prSet/>
      <dgm:spPr/>
      <dgm:t>
        <a:bodyPr/>
        <a:lstStyle/>
        <a:p>
          <a:endParaRPr lang="en-US"/>
        </a:p>
      </dgm:t>
    </dgm:pt>
    <dgm:pt modelId="{B31B746C-3F47-4A8B-89FF-7FF65D5A5B81}">
      <dgm:prSet/>
      <dgm:spPr/>
      <dgm:t>
        <a:bodyPr/>
        <a:lstStyle/>
        <a:p>
          <a:r>
            <a:rPr lang="en-US"/>
            <a:t>Reducing lead time helps organizations deliver value faster and increase customer satisfaction.</a:t>
          </a:r>
        </a:p>
      </dgm:t>
    </dgm:pt>
    <dgm:pt modelId="{E1CD0440-E565-4891-BC77-96CCCCB2D601}" type="parTrans" cxnId="{434BF0AD-26C7-4354-A95E-66C39922C9A5}">
      <dgm:prSet/>
      <dgm:spPr/>
      <dgm:t>
        <a:bodyPr/>
        <a:lstStyle/>
        <a:p>
          <a:endParaRPr lang="en-US"/>
        </a:p>
      </dgm:t>
    </dgm:pt>
    <dgm:pt modelId="{6BB5C5B9-B079-4BCB-9A06-E9A42300040E}" type="sibTrans" cxnId="{434BF0AD-26C7-4354-A95E-66C39922C9A5}">
      <dgm:prSet/>
      <dgm:spPr/>
      <dgm:t>
        <a:bodyPr/>
        <a:lstStyle/>
        <a:p>
          <a:endParaRPr lang="en-US"/>
        </a:p>
      </dgm:t>
    </dgm:pt>
    <dgm:pt modelId="{CAC6EA92-583D-4A1A-9496-8C3444DD2ABA}" type="pres">
      <dgm:prSet presAssocID="{9406B187-BCC4-4B59-81FA-33683867AFE4}" presName="Name0" presStyleCnt="0">
        <dgm:presLayoutVars>
          <dgm:dir/>
          <dgm:animLvl val="lvl"/>
          <dgm:resizeHandles val="exact"/>
        </dgm:presLayoutVars>
      </dgm:prSet>
      <dgm:spPr/>
    </dgm:pt>
    <dgm:pt modelId="{ABA8E33D-CE59-487E-8E62-936454FFA425}" type="pres">
      <dgm:prSet presAssocID="{B31B746C-3F47-4A8B-89FF-7FF65D5A5B81}" presName="boxAndChildren" presStyleCnt="0"/>
      <dgm:spPr/>
    </dgm:pt>
    <dgm:pt modelId="{1FFB91CC-4077-449D-830D-1CEF427D3455}" type="pres">
      <dgm:prSet presAssocID="{B31B746C-3F47-4A8B-89FF-7FF65D5A5B81}" presName="parentTextBox" presStyleLbl="node1" presStyleIdx="0" presStyleCnt="3"/>
      <dgm:spPr/>
    </dgm:pt>
    <dgm:pt modelId="{011F2FD3-6510-4098-89D5-539EE6A9953C}" type="pres">
      <dgm:prSet presAssocID="{691919DD-2D0F-42AC-A828-2B426167AC5B}" presName="sp" presStyleCnt="0"/>
      <dgm:spPr/>
    </dgm:pt>
    <dgm:pt modelId="{1BC971DF-505D-4C19-98A0-EE8BEC97BBDF}" type="pres">
      <dgm:prSet presAssocID="{542C663D-C91B-4681-B2C9-21586CD5D95B}" presName="arrowAndChildren" presStyleCnt="0"/>
      <dgm:spPr/>
    </dgm:pt>
    <dgm:pt modelId="{085106B1-C2D1-4525-8995-5FAF93248978}" type="pres">
      <dgm:prSet presAssocID="{542C663D-C91B-4681-B2C9-21586CD5D95B}" presName="parentTextArrow" presStyleLbl="node1" presStyleIdx="1" presStyleCnt="3"/>
      <dgm:spPr/>
    </dgm:pt>
    <dgm:pt modelId="{18103530-3D79-420F-B99D-48658A7D3CC6}" type="pres">
      <dgm:prSet presAssocID="{ED7F79B5-73AD-4DEE-B12F-B824A968FCBE}" presName="sp" presStyleCnt="0"/>
      <dgm:spPr/>
    </dgm:pt>
    <dgm:pt modelId="{4EE40F80-1B59-49BD-9712-009CD7FC1E05}" type="pres">
      <dgm:prSet presAssocID="{FA8EF2EF-48A0-449F-B0E0-41A53FE057CD}" presName="arrowAndChildren" presStyleCnt="0"/>
      <dgm:spPr/>
    </dgm:pt>
    <dgm:pt modelId="{B1A9D16D-5E1E-4C68-9FEC-FBB8015A80C9}" type="pres">
      <dgm:prSet presAssocID="{FA8EF2EF-48A0-449F-B0E0-41A53FE057CD}" presName="parentTextArrow" presStyleLbl="node1" presStyleIdx="2" presStyleCnt="3"/>
      <dgm:spPr/>
    </dgm:pt>
  </dgm:ptLst>
  <dgm:cxnLst>
    <dgm:cxn modelId="{4FFEF339-463D-43AD-97CA-E46FA0888694}" srcId="{9406B187-BCC4-4B59-81FA-33683867AFE4}" destId="{542C663D-C91B-4681-B2C9-21586CD5D95B}" srcOrd="1" destOrd="0" parTransId="{E5A1E495-96CF-4F81-AC01-315E5515ADF7}" sibTransId="{691919DD-2D0F-42AC-A828-2B426167AC5B}"/>
    <dgm:cxn modelId="{7DACE342-2137-43DC-AE7B-48D5746F7DC2}" type="presOf" srcId="{B31B746C-3F47-4A8B-89FF-7FF65D5A5B81}" destId="{1FFB91CC-4077-449D-830D-1CEF427D3455}" srcOrd="0" destOrd="0" presId="urn:microsoft.com/office/officeart/2005/8/layout/process4"/>
    <dgm:cxn modelId="{3EDB204E-125D-4032-AB38-A7234A5F6FF5}" type="presOf" srcId="{9406B187-BCC4-4B59-81FA-33683867AFE4}" destId="{CAC6EA92-583D-4A1A-9496-8C3444DD2ABA}" srcOrd="0" destOrd="0" presId="urn:microsoft.com/office/officeart/2005/8/layout/process4"/>
    <dgm:cxn modelId="{25B38681-3588-414F-A1A3-71528BCFB06F}" srcId="{9406B187-BCC4-4B59-81FA-33683867AFE4}" destId="{FA8EF2EF-48A0-449F-B0E0-41A53FE057CD}" srcOrd="0" destOrd="0" parTransId="{9A77DD8E-10C1-4762-9B0D-DCBFF90A9EF8}" sibTransId="{ED7F79B5-73AD-4DEE-B12F-B824A968FCBE}"/>
    <dgm:cxn modelId="{434BF0AD-26C7-4354-A95E-66C39922C9A5}" srcId="{9406B187-BCC4-4B59-81FA-33683867AFE4}" destId="{B31B746C-3F47-4A8B-89FF-7FF65D5A5B81}" srcOrd="2" destOrd="0" parTransId="{E1CD0440-E565-4891-BC77-96CCCCB2D601}" sibTransId="{6BB5C5B9-B079-4BCB-9A06-E9A42300040E}"/>
    <dgm:cxn modelId="{B3F6D9EF-1B21-431A-908A-B3F15D949F51}" type="presOf" srcId="{FA8EF2EF-48A0-449F-B0E0-41A53FE057CD}" destId="{B1A9D16D-5E1E-4C68-9FEC-FBB8015A80C9}" srcOrd="0" destOrd="0" presId="urn:microsoft.com/office/officeart/2005/8/layout/process4"/>
    <dgm:cxn modelId="{120121FB-A1D6-441D-B87C-9ECF4CD0D25C}" type="presOf" srcId="{542C663D-C91B-4681-B2C9-21586CD5D95B}" destId="{085106B1-C2D1-4525-8995-5FAF93248978}" srcOrd="0" destOrd="0" presId="urn:microsoft.com/office/officeart/2005/8/layout/process4"/>
    <dgm:cxn modelId="{BAEC5269-E0D7-4E90-A12D-8444A14CC632}" type="presParOf" srcId="{CAC6EA92-583D-4A1A-9496-8C3444DD2ABA}" destId="{ABA8E33D-CE59-487E-8E62-936454FFA425}" srcOrd="0" destOrd="0" presId="urn:microsoft.com/office/officeart/2005/8/layout/process4"/>
    <dgm:cxn modelId="{BB95B0AC-C50C-4F12-B909-4D0E6EA0A0CB}" type="presParOf" srcId="{ABA8E33D-CE59-487E-8E62-936454FFA425}" destId="{1FFB91CC-4077-449D-830D-1CEF427D3455}" srcOrd="0" destOrd="0" presId="urn:microsoft.com/office/officeart/2005/8/layout/process4"/>
    <dgm:cxn modelId="{118BAC5D-6618-4625-B463-ABE9CB2ACCE3}" type="presParOf" srcId="{CAC6EA92-583D-4A1A-9496-8C3444DD2ABA}" destId="{011F2FD3-6510-4098-89D5-539EE6A9953C}" srcOrd="1" destOrd="0" presId="urn:microsoft.com/office/officeart/2005/8/layout/process4"/>
    <dgm:cxn modelId="{DEA4650F-C777-4B69-BE50-34A10C063F82}" type="presParOf" srcId="{CAC6EA92-583D-4A1A-9496-8C3444DD2ABA}" destId="{1BC971DF-505D-4C19-98A0-EE8BEC97BBDF}" srcOrd="2" destOrd="0" presId="urn:microsoft.com/office/officeart/2005/8/layout/process4"/>
    <dgm:cxn modelId="{8AD52336-3EA6-4DD6-8079-E34E03C3362F}" type="presParOf" srcId="{1BC971DF-505D-4C19-98A0-EE8BEC97BBDF}" destId="{085106B1-C2D1-4525-8995-5FAF93248978}" srcOrd="0" destOrd="0" presId="urn:microsoft.com/office/officeart/2005/8/layout/process4"/>
    <dgm:cxn modelId="{0468C7B0-5DD1-411D-9F1B-1825B7475DF4}" type="presParOf" srcId="{CAC6EA92-583D-4A1A-9496-8C3444DD2ABA}" destId="{18103530-3D79-420F-B99D-48658A7D3CC6}" srcOrd="3" destOrd="0" presId="urn:microsoft.com/office/officeart/2005/8/layout/process4"/>
    <dgm:cxn modelId="{784EFC39-1605-4443-BE20-4DFAA7A9FC17}" type="presParOf" srcId="{CAC6EA92-583D-4A1A-9496-8C3444DD2ABA}" destId="{4EE40F80-1B59-49BD-9712-009CD7FC1E05}" srcOrd="4" destOrd="0" presId="urn:microsoft.com/office/officeart/2005/8/layout/process4"/>
    <dgm:cxn modelId="{3CC7C88F-3D8A-4DDD-9C97-FF0B66EA40C9}" type="presParOf" srcId="{4EE40F80-1B59-49BD-9712-009CD7FC1E05}" destId="{B1A9D16D-5E1E-4C68-9FEC-FBB8015A80C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7C8394-7A4F-4A31-B644-D3EB99D9B17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BD3CE05-E80B-46F6-A7A0-1C78B66A9A54}">
      <dgm:prSet/>
      <dgm:spPr/>
      <dgm:t>
        <a:bodyPr/>
        <a:lstStyle/>
        <a:p>
          <a:pPr>
            <a:defRPr cap="all"/>
          </a:pPr>
          <a:r>
            <a:rPr lang="en-US"/>
            <a:t>Long deployment cycles increase team stress and risk of failure or financial loss during releases.</a:t>
          </a:r>
        </a:p>
      </dgm:t>
    </dgm:pt>
    <dgm:pt modelId="{10D68F22-4B5B-4F78-801E-9503DFE52E5E}" type="parTrans" cxnId="{91A60F8F-FF66-4716-84FE-83DD2B351886}">
      <dgm:prSet/>
      <dgm:spPr/>
      <dgm:t>
        <a:bodyPr/>
        <a:lstStyle/>
        <a:p>
          <a:endParaRPr lang="en-US"/>
        </a:p>
      </dgm:t>
    </dgm:pt>
    <dgm:pt modelId="{5E887B2A-C546-442F-9455-8A057299D427}" type="sibTrans" cxnId="{91A60F8F-FF66-4716-84FE-83DD2B351886}">
      <dgm:prSet/>
      <dgm:spPr/>
      <dgm:t>
        <a:bodyPr/>
        <a:lstStyle/>
        <a:p>
          <a:endParaRPr lang="en-US"/>
        </a:p>
      </dgm:t>
    </dgm:pt>
    <dgm:pt modelId="{6BD3F59B-44E5-4E9F-8907-77B006BE498D}">
      <dgm:prSet/>
      <dgm:spPr/>
      <dgm:t>
        <a:bodyPr/>
        <a:lstStyle/>
        <a:p>
          <a:pPr>
            <a:defRPr cap="all"/>
          </a:pPr>
          <a:r>
            <a:rPr lang="en-US"/>
            <a:t>Problems are harder to trace because changes are bundled together in larger releases.</a:t>
          </a:r>
        </a:p>
      </dgm:t>
    </dgm:pt>
    <dgm:pt modelId="{97144987-3BE4-433D-A7B4-C556424224BC}" type="parTrans" cxnId="{A5CEEA20-FC53-43CB-B8CF-E4CA55852B57}">
      <dgm:prSet/>
      <dgm:spPr/>
      <dgm:t>
        <a:bodyPr/>
        <a:lstStyle/>
        <a:p>
          <a:endParaRPr lang="en-US"/>
        </a:p>
      </dgm:t>
    </dgm:pt>
    <dgm:pt modelId="{161DA1C9-F385-4A6D-87FA-E150904F142C}" type="sibTrans" cxnId="{A5CEEA20-FC53-43CB-B8CF-E4CA55852B57}">
      <dgm:prSet/>
      <dgm:spPr/>
      <dgm:t>
        <a:bodyPr/>
        <a:lstStyle/>
        <a:p>
          <a:endParaRPr lang="en-US"/>
        </a:p>
      </dgm:t>
    </dgm:pt>
    <dgm:pt modelId="{A54AFD4D-3AB4-4727-A566-381153E15AE2}">
      <dgm:prSet/>
      <dgm:spPr/>
      <dgm:t>
        <a:bodyPr/>
        <a:lstStyle/>
        <a:p>
          <a:pPr>
            <a:defRPr cap="all"/>
          </a:pPr>
          <a:r>
            <a:rPr lang="en-US"/>
            <a:t>Customers wait longer for fixes and new features, which reduces overall satisfaction.</a:t>
          </a:r>
        </a:p>
      </dgm:t>
    </dgm:pt>
    <dgm:pt modelId="{EE063D5E-E9E3-48DB-9254-E467A6A2D957}" type="parTrans" cxnId="{3041CA1B-24E4-4935-A930-2F1A50D1C620}">
      <dgm:prSet/>
      <dgm:spPr/>
      <dgm:t>
        <a:bodyPr/>
        <a:lstStyle/>
        <a:p>
          <a:endParaRPr lang="en-US"/>
        </a:p>
      </dgm:t>
    </dgm:pt>
    <dgm:pt modelId="{A4913184-0497-4B99-95F7-D2D937191ECF}" type="sibTrans" cxnId="{3041CA1B-24E4-4935-A930-2F1A50D1C620}">
      <dgm:prSet/>
      <dgm:spPr/>
      <dgm:t>
        <a:bodyPr/>
        <a:lstStyle/>
        <a:p>
          <a:endParaRPr lang="en-US"/>
        </a:p>
      </dgm:t>
    </dgm:pt>
    <dgm:pt modelId="{15E8C40C-C3BF-49E0-8702-A4E4BCA57039}" type="pres">
      <dgm:prSet presAssocID="{C67C8394-7A4F-4A31-B644-D3EB99D9B17C}" presName="root" presStyleCnt="0">
        <dgm:presLayoutVars>
          <dgm:dir/>
          <dgm:resizeHandles val="exact"/>
        </dgm:presLayoutVars>
      </dgm:prSet>
      <dgm:spPr/>
    </dgm:pt>
    <dgm:pt modelId="{DCC21158-4900-469C-BE37-2F71CBCA3187}" type="pres">
      <dgm:prSet presAssocID="{EBD3CE05-E80B-46F6-A7A0-1C78B66A9A54}" presName="compNode" presStyleCnt="0"/>
      <dgm:spPr/>
    </dgm:pt>
    <dgm:pt modelId="{8A094A79-8FDC-40F4-8F0E-C9D079888E9D}" type="pres">
      <dgm:prSet presAssocID="{EBD3CE05-E80B-46F6-A7A0-1C78B66A9A54}" presName="iconBgRect" presStyleLbl="bgShp" presStyleIdx="0" presStyleCnt="3"/>
      <dgm:spPr/>
    </dgm:pt>
    <dgm:pt modelId="{5B22175A-6C23-4ABC-ABE6-974B366EAB83}" type="pres">
      <dgm:prSet presAssocID="{EBD3CE05-E80B-46F6-A7A0-1C78B66A9A5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44C9E09-A6F8-4D8D-8B74-64F679412606}" type="pres">
      <dgm:prSet presAssocID="{EBD3CE05-E80B-46F6-A7A0-1C78B66A9A54}" presName="spaceRect" presStyleCnt="0"/>
      <dgm:spPr/>
    </dgm:pt>
    <dgm:pt modelId="{B49F1276-F373-4902-85AC-A7C925D77A45}" type="pres">
      <dgm:prSet presAssocID="{EBD3CE05-E80B-46F6-A7A0-1C78B66A9A54}" presName="textRect" presStyleLbl="revTx" presStyleIdx="0" presStyleCnt="3">
        <dgm:presLayoutVars>
          <dgm:chMax val="1"/>
          <dgm:chPref val="1"/>
        </dgm:presLayoutVars>
      </dgm:prSet>
      <dgm:spPr/>
    </dgm:pt>
    <dgm:pt modelId="{0B309A48-9A3E-4050-B99A-5FDC44F95181}" type="pres">
      <dgm:prSet presAssocID="{5E887B2A-C546-442F-9455-8A057299D427}" presName="sibTrans" presStyleCnt="0"/>
      <dgm:spPr/>
    </dgm:pt>
    <dgm:pt modelId="{C993A3A4-4B5F-45EE-9244-AA273ADFBC93}" type="pres">
      <dgm:prSet presAssocID="{6BD3F59B-44E5-4E9F-8907-77B006BE498D}" presName="compNode" presStyleCnt="0"/>
      <dgm:spPr/>
    </dgm:pt>
    <dgm:pt modelId="{A966EF24-4D7A-4DEB-9712-B4E1C210B867}" type="pres">
      <dgm:prSet presAssocID="{6BD3F59B-44E5-4E9F-8907-77B006BE498D}" presName="iconBgRect" presStyleLbl="bgShp" presStyleIdx="1" presStyleCnt="3"/>
      <dgm:spPr/>
    </dgm:pt>
    <dgm:pt modelId="{0E7D8D85-54F5-4AE3-95AC-2C282C52803E}" type="pres">
      <dgm:prSet presAssocID="{6BD3F59B-44E5-4E9F-8907-77B006BE498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4B2F0AE-A473-49E7-8630-FA01E028B642}" type="pres">
      <dgm:prSet presAssocID="{6BD3F59B-44E5-4E9F-8907-77B006BE498D}" presName="spaceRect" presStyleCnt="0"/>
      <dgm:spPr/>
    </dgm:pt>
    <dgm:pt modelId="{F2501D09-B723-462B-AF2E-54FAE2D5ABCC}" type="pres">
      <dgm:prSet presAssocID="{6BD3F59B-44E5-4E9F-8907-77B006BE498D}" presName="textRect" presStyleLbl="revTx" presStyleIdx="1" presStyleCnt="3">
        <dgm:presLayoutVars>
          <dgm:chMax val="1"/>
          <dgm:chPref val="1"/>
        </dgm:presLayoutVars>
      </dgm:prSet>
      <dgm:spPr/>
    </dgm:pt>
    <dgm:pt modelId="{46FA3829-6ED3-42FE-98F4-4256A030702A}" type="pres">
      <dgm:prSet presAssocID="{161DA1C9-F385-4A6D-87FA-E150904F142C}" presName="sibTrans" presStyleCnt="0"/>
      <dgm:spPr/>
    </dgm:pt>
    <dgm:pt modelId="{FDB3C41D-C7B5-4CEA-8DEA-32B09B7BD74B}" type="pres">
      <dgm:prSet presAssocID="{A54AFD4D-3AB4-4727-A566-381153E15AE2}" presName="compNode" presStyleCnt="0"/>
      <dgm:spPr/>
    </dgm:pt>
    <dgm:pt modelId="{46B00166-305D-460B-8746-075EA6833C8A}" type="pres">
      <dgm:prSet presAssocID="{A54AFD4D-3AB4-4727-A566-381153E15AE2}" presName="iconBgRect" presStyleLbl="bgShp" presStyleIdx="2" presStyleCnt="3"/>
      <dgm:spPr/>
    </dgm:pt>
    <dgm:pt modelId="{702EFBC8-717C-46EB-8F86-109876747D8E}" type="pres">
      <dgm:prSet presAssocID="{A54AFD4D-3AB4-4727-A566-381153E15AE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lder"/>
        </a:ext>
      </dgm:extLst>
    </dgm:pt>
    <dgm:pt modelId="{D16C8AA0-ED84-44C5-83F7-48FC34A04CC3}" type="pres">
      <dgm:prSet presAssocID="{A54AFD4D-3AB4-4727-A566-381153E15AE2}" presName="spaceRect" presStyleCnt="0"/>
      <dgm:spPr/>
    </dgm:pt>
    <dgm:pt modelId="{CB61F351-1938-4BC7-936A-126F5C07D998}" type="pres">
      <dgm:prSet presAssocID="{A54AFD4D-3AB4-4727-A566-381153E15AE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D6D9905-133B-4269-AD45-15817E0517E3}" type="presOf" srcId="{6BD3F59B-44E5-4E9F-8907-77B006BE498D}" destId="{F2501D09-B723-462B-AF2E-54FAE2D5ABCC}" srcOrd="0" destOrd="0" presId="urn:microsoft.com/office/officeart/2018/5/layout/IconCircleLabelList"/>
    <dgm:cxn modelId="{3041CA1B-24E4-4935-A930-2F1A50D1C620}" srcId="{C67C8394-7A4F-4A31-B644-D3EB99D9B17C}" destId="{A54AFD4D-3AB4-4727-A566-381153E15AE2}" srcOrd="2" destOrd="0" parTransId="{EE063D5E-E9E3-48DB-9254-E467A6A2D957}" sibTransId="{A4913184-0497-4B99-95F7-D2D937191ECF}"/>
    <dgm:cxn modelId="{A5CEEA20-FC53-43CB-B8CF-E4CA55852B57}" srcId="{C67C8394-7A4F-4A31-B644-D3EB99D9B17C}" destId="{6BD3F59B-44E5-4E9F-8907-77B006BE498D}" srcOrd="1" destOrd="0" parTransId="{97144987-3BE4-433D-A7B4-C556424224BC}" sibTransId="{161DA1C9-F385-4A6D-87FA-E150904F142C}"/>
    <dgm:cxn modelId="{615F5B21-04B5-4109-85D7-D10F9F682580}" type="presOf" srcId="{C67C8394-7A4F-4A31-B644-D3EB99D9B17C}" destId="{15E8C40C-C3BF-49E0-8702-A4E4BCA57039}" srcOrd="0" destOrd="0" presId="urn:microsoft.com/office/officeart/2018/5/layout/IconCircleLabelList"/>
    <dgm:cxn modelId="{52B3DC87-AC6D-4388-A593-45E281D94465}" type="presOf" srcId="{A54AFD4D-3AB4-4727-A566-381153E15AE2}" destId="{CB61F351-1938-4BC7-936A-126F5C07D998}" srcOrd="0" destOrd="0" presId="urn:microsoft.com/office/officeart/2018/5/layout/IconCircleLabelList"/>
    <dgm:cxn modelId="{91A60F8F-FF66-4716-84FE-83DD2B351886}" srcId="{C67C8394-7A4F-4A31-B644-D3EB99D9B17C}" destId="{EBD3CE05-E80B-46F6-A7A0-1C78B66A9A54}" srcOrd="0" destOrd="0" parTransId="{10D68F22-4B5B-4F78-801E-9503DFE52E5E}" sibTransId="{5E887B2A-C546-442F-9455-8A057299D427}"/>
    <dgm:cxn modelId="{5FB0E6E4-4178-4D73-A9EA-80BFCB8B7631}" type="presOf" srcId="{EBD3CE05-E80B-46F6-A7A0-1C78B66A9A54}" destId="{B49F1276-F373-4902-85AC-A7C925D77A45}" srcOrd="0" destOrd="0" presId="urn:microsoft.com/office/officeart/2018/5/layout/IconCircleLabelList"/>
    <dgm:cxn modelId="{22AD0FFB-D6DB-42C5-B1BC-9F410A025CF6}" type="presParOf" srcId="{15E8C40C-C3BF-49E0-8702-A4E4BCA57039}" destId="{DCC21158-4900-469C-BE37-2F71CBCA3187}" srcOrd="0" destOrd="0" presId="urn:microsoft.com/office/officeart/2018/5/layout/IconCircleLabelList"/>
    <dgm:cxn modelId="{DC0214DB-5AAF-44C2-958F-17A07F2BA91D}" type="presParOf" srcId="{DCC21158-4900-469C-BE37-2F71CBCA3187}" destId="{8A094A79-8FDC-40F4-8F0E-C9D079888E9D}" srcOrd="0" destOrd="0" presId="urn:microsoft.com/office/officeart/2018/5/layout/IconCircleLabelList"/>
    <dgm:cxn modelId="{9334DBB3-E755-47D7-ADDE-2DBFA5DC96CA}" type="presParOf" srcId="{DCC21158-4900-469C-BE37-2F71CBCA3187}" destId="{5B22175A-6C23-4ABC-ABE6-974B366EAB83}" srcOrd="1" destOrd="0" presId="urn:microsoft.com/office/officeart/2018/5/layout/IconCircleLabelList"/>
    <dgm:cxn modelId="{47390941-4D69-42D8-B3CA-80F08F9B1897}" type="presParOf" srcId="{DCC21158-4900-469C-BE37-2F71CBCA3187}" destId="{B44C9E09-A6F8-4D8D-8B74-64F679412606}" srcOrd="2" destOrd="0" presId="urn:microsoft.com/office/officeart/2018/5/layout/IconCircleLabelList"/>
    <dgm:cxn modelId="{0D4A03E6-0D10-456A-AE8E-58AED66125F4}" type="presParOf" srcId="{DCC21158-4900-469C-BE37-2F71CBCA3187}" destId="{B49F1276-F373-4902-85AC-A7C925D77A45}" srcOrd="3" destOrd="0" presId="urn:microsoft.com/office/officeart/2018/5/layout/IconCircleLabelList"/>
    <dgm:cxn modelId="{A13A1F87-5F20-4F14-AC2E-4EA7EF443DEA}" type="presParOf" srcId="{15E8C40C-C3BF-49E0-8702-A4E4BCA57039}" destId="{0B309A48-9A3E-4050-B99A-5FDC44F95181}" srcOrd="1" destOrd="0" presId="urn:microsoft.com/office/officeart/2018/5/layout/IconCircleLabelList"/>
    <dgm:cxn modelId="{FBDC8D9A-FC18-4E6D-9053-88C7C4CE4A4F}" type="presParOf" srcId="{15E8C40C-C3BF-49E0-8702-A4E4BCA57039}" destId="{C993A3A4-4B5F-45EE-9244-AA273ADFBC93}" srcOrd="2" destOrd="0" presId="urn:microsoft.com/office/officeart/2018/5/layout/IconCircleLabelList"/>
    <dgm:cxn modelId="{120FDAFD-A844-4BB1-B23F-9B8B44169AD5}" type="presParOf" srcId="{C993A3A4-4B5F-45EE-9244-AA273ADFBC93}" destId="{A966EF24-4D7A-4DEB-9712-B4E1C210B867}" srcOrd="0" destOrd="0" presId="urn:microsoft.com/office/officeart/2018/5/layout/IconCircleLabelList"/>
    <dgm:cxn modelId="{1E0BB060-1097-4706-88F0-3B7D7B300AC5}" type="presParOf" srcId="{C993A3A4-4B5F-45EE-9244-AA273ADFBC93}" destId="{0E7D8D85-54F5-4AE3-95AC-2C282C52803E}" srcOrd="1" destOrd="0" presId="urn:microsoft.com/office/officeart/2018/5/layout/IconCircleLabelList"/>
    <dgm:cxn modelId="{274D6A66-6522-4E86-919D-905998D0DC70}" type="presParOf" srcId="{C993A3A4-4B5F-45EE-9244-AA273ADFBC93}" destId="{24B2F0AE-A473-49E7-8630-FA01E028B642}" srcOrd="2" destOrd="0" presId="urn:microsoft.com/office/officeart/2018/5/layout/IconCircleLabelList"/>
    <dgm:cxn modelId="{49D7FAC2-81AE-4761-8CEC-128C4EDDFA74}" type="presParOf" srcId="{C993A3A4-4B5F-45EE-9244-AA273ADFBC93}" destId="{F2501D09-B723-462B-AF2E-54FAE2D5ABCC}" srcOrd="3" destOrd="0" presId="urn:microsoft.com/office/officeart/2018/5/layout/IconCircleLabelList"/>
    <dgm:cxn modelId="{ED1B7675-BB13-4AB5-B64A-663313A374EF}" type="presParOf" srcId="{15E8C40C-C3BF-49E0-8702-A4E4BCA57039}" destId="{46FA3829-6ED3-42FE-98F4-4256A030702A}" srcOrd="3" destOrd="0" presId="urn:microsoft.com/office/officeart/2018/5/layout/IconCircleLabelList"/>
    <dgm:cxn modelId="{465115C3-8884-44B3-8474-BB1CAA049278}" type="presParOf" srcId="{15E8C40C-C3BF-49E0-8702-A4E4BCA57039}" destId="{FDB3C41D-C7B5-4CEA-8DEA-32B09B7BD74B}" srcOrd="4" destOrd="0" presId="urn:microsoft.com/office/officeart/2018/5/layout/IconCircleLabelList"/>
    <dgm:cxn modelId="{64A79BAF-E1B8-445A-800E-0208AE2B432F}" type="presParOf" srcId="{FDB3C41D-C7B5-4CEA-8DEA-32B09B7BD74B}" destId="{46B00166-305D-460B-8746-075EA6833C8A}" srcOrd="0" destOrd="0" presId="urn:microsoft.com/office/officeart/2018/5/layout/IconCircleLabelList"/>
    <dgm:cxn modelId="{5D8D9779-2901-4B99-AFBB-27B7B9814C25}" type="presParOf" srcId="{FDB3C41D-C7B5-4CEA-8DEA-32B09B7BD74B}" destId="{702EFBC8-717C-46EB-8F86-109876747D8E}" srcOrd="1" destOrd="0" presId="urn:microsoft.com/office/officeart/2018/5/layout/IconCircleLabelList"/>
    <dgm:cxn modelId="{B70FB027-7BBD-4C41-A43D-9A5C0FC3B801}" type="presParOf" srcId="{FDB3C41D-C7B5-4CEA-8DEA-32B09B7BD74B}" destId="{D16C8AA0-ED84-44C5-83F7-48FC34A04CC3}" srcOrd="2" destOrd="0" presId="urn:microsoft.com/office/officeart/2018/5/layout/IconCircleLabelList"/>
    <dgm:cxn modelId="{97CC7D85-385D-47F4-AC13-280620557B54}" type="presParOf" srcId="{FDB3C41D-C7B5-4CEA-8DEA-32B09B7BD74B}" destId="{CB61F351-1938-4BC7-936A-126F5C07D99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3CC137F-4443-4DBC-B7AC-99F4DE8F699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B472CFE-2CEA-48BB-AEE5-724C6C7249B7}">
      <dgm:prSet/>
      <dgm:spPr/>
      <dgm:t>
        <a:bodyPr/>
        <a:lstStyle/>
        <a:p>
          <a:r>
            <a:rPr lang="en-US"/>
            <a:t>Deploying automation in the workflow increases deployment speed overall. It also reduces manual workloads and errors during testing and deployment.</a:t>
          </a:r>
        </a:p>
      </dgm:t>
    </dgm:pt>
    <dgm:pt modelId="{602CA97B-1FBB-4369-AC57-C08123D6FA5D}" type="parTrans" cxnId="{9B1D216A-5B80-461C-9B33-BD5C27E78EC0}">
      <dgm:prSet/>
      <dgm:spPr/>
      <dgm:t>
        <a:bodyPr/>
        <a:lstStyle/>
        <a:p>
          <a:endParaRPr lang="en-US"/>
        </a:p>
      </dgm:t>
    </dgm:pt>
    <dgm:pt modelId="{8C2BDDB3-DA1E-4765-A971-8385956014EE}" type="sibTrans" cxnId="{9B1D216A-5B80-461C-9B33-BD5C27E78EC0}">
      <dgm:prSet/>
      <dgm:spPr/>
      <dgm:t>
        <a:bodyPr/>
        <a:lstStyle/>
        <a:p>
          <a:endParaRPr lang="en-US"/>
        </a:p>
      </dgm:t>
    </dgm:pt>
    <dgm:pt modelId="{BE23A23C-70C0-45F1-AC6F-1589AB3E9943}">
      <dgm:prSet/>
      <dgm:spPr/>
      <dgm:t>
        <a:bodyPr/>
        <a:lstStyle/>
        <a:p>
          <a:r>
            <a:rPr lang="en-US"/>
            <a:t>Smaller batch sizes allow teams to get faster feedback and make more iterative updates.</a:t>
          </a:r>
        </a:p>
      </dgm:t>
    </dgm:pt>
    <dgm:pt modelId="{AF5FF9AB-2D1F-4666-8FA4-8E374D3FDE53}" type="parTrans" cxnId="{4659AF34-51DC-4AEE-9874-C6929499855A}">
      <dgm:prSet/>
      <dgm:spPr/>
      <dgm:t>
        <a:bodyPr/>
        <a:lstStyle/>
        <a:p>
          <a:endParaRPr lang="en-US"/>
        </a:p>
      </dgm:t>
    </dgm:pt>
    <dgm:pt modelId="{3B324EC7-CC88-40F4-8C7B-74FDE4C07B72}" type="sibTrans" cxnId="{4659AF34-51DC-4AEE-9874-C6929499855A}">
      <dgm:prSet/>
      <dgm:spPr/>
      <dgm:t>
        <a:bodyPr/>
        <a:lstStyle/>
        <a:p>
          <a:endParaRPr lang="en-US"/>
        </a:p>
      </dgm:t>
    </dgm:pt>
    <dgm:pt modelId="{7136E81D-E581-43E0-B560-1DEC38FEADD0}">
      <dgm:prSet/>
      <dgm:spPr/>
      <dgm:t>
        <a:bodyPr/>
        <a:lstStyle/>
        <a:p>
          <a:r>
            <a:rPr lang="en-US"/>
            <a:t>Collaboration between development and operations teams improves overall flow.</a:t>
          </a:r>
        </a:p>
      </dgm:t>
    </dgm:pt>
    <dgm:pt modelId="{26127F2B-731D-4EBF-B348-54C18A0FEDE5}" type="parTrans" cxnId="{C14CFEC4-6AF1-43B7-AC47-60EA453DC542}">
      <dgm:prSet/>
      <dgm:spPr/>
      <dgm:t>
        <a:bodyPr/>
        <a:lstStyle/>
        <a:p>
          <a:endParaRPr lang="en-US"/>
        </a:p>
      </dgm:t>
    </dgm:pt>
    <dgm:pt modelId="{B094DE87-E3F4-4C2C-8491-718B421E86CB}" type="sibTrans" cxnId="{C14CFEC4-6AF1-43B7-AC47-60EA453DC542}">
      <dgm:prSet/>
      <dgm:spPr/>
      <dgm:t>
        <a:bodyPr/>
        <a:lstStyle/>
        <a:p>
          <a:endParaRPr lang="en-US"/>
        </a:p>
      </dgm:t>
    </dgm:pt>
    <dgm:pt modelId="{94EFFF08-1C73-4164-B5B7-1A89A9CD3ACD}" type="pres">
      <dgm:prSet presAssocID="{83CC137F-4443-4DBC-B7AC-99F4DE8F6990}" presName="root" presStyleCnt="0">
        <dgm:presLayoutVars>
          <dgm:dir/>
          <dgm:resizeHandles val="exact"/>
        </dgm:presLayoutVars>
      </dgm:prSet>
      <dgm:spPr/>
    </dgm:pt>
    <dgm:pt modelId="{E1885F7D-6413-4A20-A38D-12F9445E57FE}" type="pres">
      <dgm:prSet presAssocID="{CB472CFE-2CEA-48BB-AEE5-724C6C7249B7}" presName="compNode" presStyleCnt="0"/>
      <dgm:spPr/>
    </dgm:pt>
    <dgm:pt modelId="{95756D95-DD25-4439-B44E-A95C4FB0137C}" type="pres">
      <dgm:prSet presAssocID="{CB472CFE-2CEA-48BB-AEE5-724C6C7249B7}" presName="bgRect" presStyleLbl="bgShp" presStyleIdx="0" presStyleCnt="3"/>
      <dgm:spPr/>
    </dgm:pt>
    <dgm:pt modelId="{B0E9879C-6B9A-4D14-A294-0ADEA41B3D7E}" type="pres">
      <dgm:prSet presAssocID="{CB472CFE-2CEA-48BB-AEE5-724C6C7249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8359A71-17DC-4334-B80F-F9F437A1CB02}" type="pres">
      <dgm:prSet presAssocID="{CB472CFE-2CEA-48BB-AEE5-724C6C7249B7}" presName="spaceRect" presStyleCnt="0"/>
      <dgm:spPr/>
    </dgm:pt>
    <dgm:pt modelId="{62353E62-D433-459D-AA15-50EA7D755AE9}" type="pres">
      <dgm:prSet presAssocID="{CB472CFE-2CEA-48BB-AEE5-724C6C7249B7}" presName="parTx" presStyleLbl="revTx" presStyleIdx="0" presStyleCnt="3">
        <dgm:presLayoutVars>
          <dgm:chMax val="0"/>
          <dgm:chPref val="0"/>
        </dgm:presLayoutVars>
      </dgm:prSet>
      <dgm:spPr/>
    </dgm:pt>
    <dgm:pt modelId="{1107F176-62BD-4F46-A739-7FB9A7FCBDA2}" type="pres">
      <dgm:prSet presAssocID="{8C2BDDB3-DA1E-4765-A971-8385956014EE}" presName="sibTrans" presStyleCnt="0"/>
      <dgm:spPr/>
    </dgm:pt>
    <dgm:pt modelId="{3A3E9EF5-5B04-4A45-88BA-A1F1D132C08C}" type="pres">
      <dgm:prSet presAssocID="{BE23A23C-70C0-45F1-AC6F-1589AB3E9943}" presName="compNode" presStyleCnt="0"/>
      <dgm:spPr/>
    </dgm:pt>
    <dgm:pt modelId="{76E3FBD3-35D7-4D38-8D02-FD7B4602E5DF}" type="pres">
      <dgm:prSet presAssocID="{BE23A23C-70C0-45F1-AC6F-1589AB3E9943}" presName="bgRect" presStyleLbl="bgShp" presStyleIdx="1" presStyleCnt="3"/>
      <dgm:spPr/>
    </dgm:pt>
    <dgm:pt modelId="{1B1E42D9-9C76-4FA6-B017-AE871339740D}" type="pres">
      <dgm:prSet presAssocID="{BE23A23C-70C0-45F1-AC6F-1589AB3E994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E588331A-E091-40A1-86B7-FE9E2BBCEB51}" type="pres">
      <dgm:prSet presAssocID="{BE23A23C-70C0-45F1-AC6F-1589AB3E9943}" presName="spaceRect" presStyleCnt="0"/>
      <dgm:spPr/>
    </dgm:pt>
    <dgm:pt modelId="{B54E6CBC-E94C-4762-BCFE-4D03F36D7B95}" type="pres">
      <dgm:prSet presAssocID="{BE23A23C-70C0-45F1-AC6F-1589AB3E9943}" presName="parTx" presStyleLbl="revTx" presStyleIdx="1" presStyleCnt="3">
        <dgm:presLayoutVars>
          <dgm:chMax val="0"/>
          <dgm:chPref val="0"/>
        </dgm:presLayoutVars>
      </dgm:prSet>
      <dgm:spPr/>
    </dgm:pt>
    <dgm:pt modelId="{4F71E242-3C92-4715-BE4E-D746C9E3B8FD}" type="pres">
      <dgm:prSet presAssocID="{3B324EC7-CC88-40F4-8C7B-74FDE4C07B72}" presName="sibTrans" presStyleCnt="0"/>
      <dgm:spPr/>
    </dgm:pt>
    <dgm:pt modelId="{B9E88B46-0E60-46AD-9F8F-E11110E4E5C6}" type="pres">
      <dgm:prSet presAssocID="{7136E81D-E581-43E0-B560-1DEC38FEADD0}" presName="compNode" presStyleCnt="0"/>
      <dgm:spPr/>
    </dgm:pt>
    <dgm:pt modelId="{6CDAA1A4-D825-4D4D-91A0-4DF18388533B}" type="pres">
      <dgm:prSet presAssocID="{7136E81D-E581-43E0-B560-1DEC38FEADD0}" presName="bgRect" presStyleLbl="bgShp" presStyleIdx="2" presStyleCnt="3"/>
      <dgm:spPr/>
    </dgm:pt>
    <dgm:pt modelId="{60A6BBCF-0226-4D5F-B5E7-FFE60D219E84}" type="pres">
      <dgm:prSet presAssocID="{7136E81D-E581-43E0-B560-1DEC38FEADD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B793068C-2046-46A0-92D5-0D5238494FD2}" type="pres">
      <dgm:prSet presAssocID="{7136E81D-E581-43E0-B560-1DEC38FEADD0}" presName="spaceRect" presStyleCnt="0"/>
      <dgm:spPr/>
    </dgm:pt>
    <dgm:pt modelId="{B46C4432-1A96-4D9E-B500-957D29822E69}" type="pres">
      <dgm:prSet presAssocID="{7136E81D-E581-43E0-B560-1DEC38FEADD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E1E7C16-C5C6-47B3-B128-67CB69FE2C5B}" type="presOf" srcId="{BE23A23C-70C0-45F1-AC6F-1589AB3E9943}" destId="{B54E6CBC-E94C-4762-BCFE-4D03F36D7B95}" srcOrd="0" destOrd="0" presId="urn:microsoft.com/office/officeart/2018/2/layout/IconVerticalSolidList"/>
    <dgm:cxn modelId="{4659AF34-51DC-4AEE-9874-C6929499855A}" srcId="{83CC137F-4443-4DBC-B7AC-99F4DE8F6990}" destId="{BE23A23C-70C0-45F1-AC6F-1589AB3E9943}" srcOrd="1" destOrd="0" parTransId="{AF5FF9AB-2D1F-4666-8FA4-8E374D3FDE53}" sibTransId="{3B324EC7-CC88-40F4-8C7B-74FDE4C07B72}"/>
    <dgm:cxn modelId="{9B1D216A-5B80-461C-9B33-BD5C27E78EC0}" srcId="{83CC137F-4443-4DBC-B7AC-99F4DE8F6990}" destId="{CB472CFE-2CEA-48BB-AEE5-724C6C7249B7}" srcOrd="0" destOrd="0" parTransId="{602CA97B-1FBB-4369-AC57-C08123D6FA5D}" sibTransId="{8C2BDDB3-DA1E-4765-A971-8385956014EE}"/>
    <dgm:cxn modelId="{5FD45A59-2F77-4494-8D5D-7A595D638A04}" type="presOf" srcId="{7136E81D-E581-43E0-B560-1DEC38FEADD0}" destId="{B46C4432-1A96-4D9E-B500-957D29822E69}" srcOrd="0" destOrd="0" presId="urn:microsoft.com/office/officeart/2018/2/layout/IconVerticalSolidList"/>
    <dgm:cxn modelId="{D41703C4-ECCD-4688-B53A-9BEB704D092A}" type="presOf" srcId="{CB472CFE-2CEA-48BB-AEE5-724C6C7249B7}" destId="{62353E62-D433-459D-AA15-50EA7D755AE9}" srcOrd="0" destOrd="0" presId="urn:microsoft.com/office/officeart/2018/2/layout/IconVerticalSolidList"/>
    <dgm:cxn modelId="{C14CFEC4-6AF1-43B7-AC47-60EA453DC542}" srcId="{83CC137F-4443-4DBC-B7AC-99F4DE8F6990}" destId="{7136E81D-E581-43E0-B560-1DEC38FEADD0}" srcOrd="2" destOrd="0" parTransId="{26127F2B-731D-4EBF-B348-54C18A0FEDE5}" sibTransId="{B094DE87-E3F4-4C2C-8491-718B421E86CB}"/>
    <dgm:cxn modelId="{3FB490C8-EA3C-4442-ADF5-C0DB225E5EAC}" type="presOf" srcId="{83CC137F-4443-4DBC-B7AC-99F4DE8F6990}" destId="{94EFFF08-1C73-4164-B5B7-1A89A9CD3ACD}" srcOrd="0" destOrd="0" presId="urn:microsoft.com/office/officeart/2018/2/layout/IconVerticalSolidList"/>
    <dgm:cxn modelId="{D9A0CA7B-84D3-437C-9DC4-B243599B2373}" type="presParOf" srcId="{94EFFF08-1C73-4164-B5B7-1A89A9CD3ACD}" destId="{E1885F7D-6413-4A20-A38D-12F9445E57FE}" srcOrd="0" destOrd="0" presId="urn:microsoft.com/office/officeart/2018/2/layout/IconVerticalSolidList"/>
    <dgm:cxn modelId="{0AB95D08-5641-4649-9295-1D179E5D27F7}" type="presParOf" srcId="{E1885F7D-6413-4A20-A38D-12F9445E57FE}" destId="{95756D95-DD25-4439-B44E-A95C4FB0137C}" srcOrd="0" destOrd="0" presId="urn:microsoft.com/office/officeart/2018/2/layout/IconVerticalSolidList"/>
    <dgm:cxn modelId="{0541BF7D-5112-43B5-A3C3-798ADA647509}" type="presParOf" srcId="{E1885F7D-6413-4A20-A38D-12F9445E57FE}" destId="{B0E9879C-6B9A-4D14-A294-0ADEA41B3D7E}" srcOrd="1" destOrd="0" presId="urn:microsoft.com/office/officeart/2018/2/layout/IconVerticalSolidList"/>
    <dgm:cxn modelId="{39F3EA92-DE80-4E72-AE0A-591D981B79FC}" type="presParOf" srcId="{E1885F7D-6413-4A20-A38D-12F9445E57FE}" destId="{38359A71-17DC-4334-B80F-F9F437A1CB02}" srcOrd="2" destOrd="0" presId="urn:microsoft.com/office/officeart/2018/2/layout/IconVerticalSolidList"/>
    <dgm:cxn modelId="{2C117E68-3B9C-4010-A7EB-6BB527F4A661}" type="presParOf" srcId="{E1885F7D-6413-4A20-A38D-12F9445E57FE}" destId="{62353E62-D433-459D-AA15-50EA7D755AE9}" srcOrd="3" destOrd="0" presId="urn:microsoft.com/office/officeart/2018/2/layout/IconVerticalSolidList"/>
    <dgm:cxn modelId="{38A766D5-C73E-4DDB-AD2F-DCFDE66B879A}" type="presParOf" srcId="{94EFFF08-1C73-4164-B5B7-1A89A9CD3ACD}" destId="{1107F176-62BD-4F46-A739-7FB9A7FCBDA2}" srcOrd="1" destOrd="0" presId="urn:microsoft.com/office/officeart/2018/2/layout/IconVerticalSolidList"/>
    <dgm:cxn modelId="{F58F7D2C-03B3-4653-904C-AFB1B8822387}" type="presParOf" srcId="{94EFFF08-1C73-4164-B5B7-1A89A9CD3ACD}" destId="{3A3E9EF5-5B04-4A45-88BA-A1F1D132C08C}" srcOrd="2" destOrd="0" presId="urn:microsoft.com/office/officeart/2018/2/layout/IconVerticalSolidList"/>
    <dgm:cxn modelId="{6BCC0949-4077-41E0-9689-E0F2220C5335}" type="presParOf" srcId="{3A3E9EF5-5B04-4A45-88BA-A1F1D132C08C}" destId="{76E3FBD3-35D7-4D38-8D02-FD7B4602E5DF}" srcOrd="0" destOrd="0" presId="urn:microsoft.com/office/officeart/2018/2/layout/IconVerticalSolidList"/>
    <dgm:cxn modelId="{B0E15703-3DC5-424F-A8AE-31547FF6D3E4}" type="presParOf" srcId="{3A3E9EF5-5B04-4A45-88BA-A1F1D132C08C}" destId="{1B1E42D9-9C76-4FA6-B017-AE871339740D}" srcOrd="1" destOrd="0" presId="urn:microsoft.com/office/officeart/2018/2/layout/IconVerticalSolidList"/>
    <dgm:cxn modelId="{AE2D1C67-19E3-40E7-A413-6E276D75ECFA}" type="presParOf" srcId="{3A3E9EF5-5B04-4A45-88BA-A1F1D132C08C}" destId="{E588331A-E091-40A1-86B7-FE9E2BBCEB51}" srcOrd="2" destOrd="0" presId="urn:microsoft.com/office/officeart/2018/2/layout/IconVerticalSolidList"/>
    <dgm:cxn modelId="{DDB33C61-D518-472A-80B2-FC84D9D10619}" type="presParOf" srcId="{3A3E9EF5-5B04-4A45-88BA-A1F1D132C08C}" destId="{B54E6CBC-E94C-4762-BCFE-4D03F36D7B95}" srcOrd="3" destOrd="0" presId="urn:microsoft.com/office/officeart/2018/2/layout/IconVerticalSolidList"/>
    <dgm:cxn modelId="{54EF8FA5-AAA5-4E57-A09E-91B53F6DD821}" type="presParOf" srcId="{94EFFF08-1C73-4164-B5B7-1A89A9CD3ACD}" destId="{4F71E242-3C92-4715-BE4E-D746C9E3B8FD}" srcOrd="3" destOrd="0" presId="urn:microsoft.com/office/officeart/2018/2/layout/IconVerticalSolidList"/>
    <dgm:cxn modelId="{DBA9E5DB-4E1E-41F7-BC68-565A76158E6C}" type="presParOf" srcId="{94EFFF08-1C73-4164-B5B7-1A89A9CD3ACD}" destId="{B9E88B46-0E60-46AD-9F8F-E11110E4E5C6}" srcOrd="4" destOrd="0" presId="urn:microsoft.com/office/officeart/2018/2/layout/IconVerticalSolidList"/>
    <dgm:cxn modelId="{BE579425-95DF-4A51-8DA8-E8FC29418A3A}" type="presParOf" srcId="{B9E88B46-0E60-46AD-9F8F-E11110E4E5C6}" destId="{6CDAA1A4-D825-4D4D-91A0-4DF18388533B}" srcOrd="0" destOrd="0" presId="urn:microsoft.com/office/officeart/2018/2/layout/IconVerticalSolidList"/>
    <dgm:cxn modelId="{3785348F-C5F2-41C9-A977-2A0BABDD36CC}" type="presParOf" srcId="{B9E88B46-0E60-46AD-9F8F-E11110E4E5C6}" destId="{60A6BBCF-0226-4D5F-B5E7-FFE60D219E84}" srcOrd="1" destOrd="0" presId="urn:microsoft.com/office/officeart/2018/2/layout/IconVerticalSolidList"/>
    <dgm:cxn modelId="{E863A698-7D79-4A30-A7DF-69344ADCC9BC}" type="presParOf" srcId="{B9E88B46-0E60-46AD-9F8F-E11110E4E5C6}" destId="{B793068C-2046-46A0-92D5-0D5238494FD2}" srcOrd="2" destOrd="0" presId="urn:microsoft.com/office/officeart/2018/2/layout/IconVerticalSolidList"/>
    <dgm:cxn modelId="{271895C2-72FD-41EA-BC9E-5EC95F2E3BF9}" type="presParOf" srcId="{B9E88B46-0E60-46AD-9F8F-E11110E4E5C6}" destId="{B46C4432-1A96-4D9E-B500-957D29822E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ACEEBD-4C7E-4B6F-B91B-470E06D6888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B11D027-C171-4729-A59C-526E4D873878}">
      <dgm:prSet/>
      <dgm:spPr/>
      <dgm:t>
        <a:bodyPr/>
        <a:lstStyle/>
        <a:p>
          <a:r>
            <a:rPr lang="en-US" dirty="0"/>
            <a:t>The technology value stream shows how ideas become working software.</a:t>
          </a:r>
        </a:p>
      </dgm:t>
    </dgm:pt>
    <dgm:pt modelId="{A51BE548-EFF3-43C3-9117-F2567FF35338}" type="parTrans" cxnId="{CB0AA074-AA59-470F-98F1-A14A723F6519}">
      <dgm:prSet/>
      <dgm:spPr/>
      <dgm:t>
        <a:bodyPr/>
        <a:lstStyle/>
        <a:p>
          <a:endParaRPr lang="en-US"/>
        </a:p>
      </dgm:t>
    </dgm:pt>
    <dgm:pt modelId="{BF688089-B7E9-4B5B-ADE3-EB87417C4C8F}" type="sibTrans" cxnId="{CB0AA074-AA59-470F-98F1-A14A723F6519}">
      <dgm:prSet/>
      <dgm:spPr/>
      <dgm:t>
        <a:bodyPr/>
        <a:lstStyle/>
        <a:p>
          <a:endParaRPr lang="en-US"/>
        </a:p>
      </dgm:t>
    </dgm:pt>
    <dgm:pt modelId="{E9BCD13E-10BF-4ED3-9063-ED6743CC7375}">
      <dgm:prSet/>
      <dgm:spPr/>
      <dgm:t>
        <a:bodyPr/>
        <a:lstStyle/>
        <a:p>
          <a:r>
            <a:rPr lang="en-US" dirty="0"/>
            <a:t>Long lead times are common in traditional IT environments and development cycles.</a:t>
          </a:r>
        </a:p>
      </dgm:t>
    </dgm:pt>
    <dgm:pt modelId="{CFA3BA5D-3E0B-4614-9184-160050D378A1}" type="parTrans" cxnId="{4D949166-1E30-4A09-AC8E-E5B8A64067F9}">
      <dgm:prSet/>
      <dgm:spPr/>
      <dgm:t>
        <a:bodyPr/>
        <a:lstStyle/>
        <a:p>
          <a:endParaRPr lang="en-US"/>
        </a:p>
      </dgm:t>
    </dgm:pt>
    <dgm:pt modelId="{71AC8CBB-61A2-4403-942A-3D35E663F74C}" type="sibTrans" cxnId="{4D949166-1E30-4A09-AC8E-E5B8A64067F9}">
      <dgm:prSet/>
      <dgm:spPr/>
      <dgm:t>
        <a:bodyPr/>
        <a:lstStyle/>
        <a:p>
          <a:endParaRPr lang="en-US"/>
        </a:p>
      </dgm:t>
    </dgm:pt>
    <dgm:pt modelId="{330BADCA-7F6B-41F9-94F7-65FFA6F31FDE}">
      <dgm:prSet/>
      <dgm:spPr/>
      <dgm:t>
        <a:bodyPr/>
        <a:lstStyle/>
        <a:p>
          <a:r>
            <a:rPr lang="en-US" dirty="0"/>
            <a:t>DevOps focuses on reducing delays and lead times so value reaches customers faster and teams work more efficiently overall.</a:t>
          </a:r>
        </a:p>
      </dgm:t>
    </dgm:pt>
    <dgm:pt modelId="{CB577C8A-5E8A-42E3-B64F-C99F49CA6DEC}" type="parTrans" cxnId="{C4F295A2-9CA9-4291-A3B1-3C5FCC53BC80}">
      <dgm:prSet/>
      <dgm:spPr/>
      <dgm:t>
        <a:bodyPr/>
        <a:lstStyle/>
        <a:p>
          <a:endParaRPr lang="en-US"/>
        </a:p>
      </dgm:t>
    </dgm:pt>
    <dgm:pt modelId="{3EB940C2-769A-4EC8-AAF3-B74FBAE1B55C}" type="sibTrans" cxnId="{C4F295A2-9CA9-4291-A3B1-3C5FCC53BC80}">
      <dgm:prSet/>
      <dgm:spPr/>
      <dgm:t>
        <a:bodyPr/>
        <a:lstStyle/>
        <a:p>
          <a:endParaRPr lang="en-US"/>
        </a:p>
      </dgm:t>
    </dgm:pt>
    <dgm:pt modelId="{EADD28E4-8597-4030-9D8D-F5A4BE3CBD9C}" type="pres">
      <dgm:prSet presAssocID="{84ACEEBD-4C7E-4B6F-B91B-470E06D68881}" presName="linear" presStyleCnt="0">
        <dgm:presLayoutVars>
          <dgm:animLvl val="lvl"/>
          <dgm:resizeHandles val="exact"/>
        </dgm:presLayoutVars>
      </dgm:prSet>
      <dgm:spPr/>
    </dgm:pt>
    <dgm:pt modelId="{A3C00BA5-8E21-4202-BAFC-20B910F6FD5F}" type="pres">
      <dgm:prSet presAssocID="{7B11D027-C171-4729-A59C-526E4D87387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1CB0DFC-A4D1-4D59-8B4B-F24811C7FF20}" type="pres">
      <dgm:prSet presAssocID="{BF688089-B7E9-4B5B-ADE3-EB87417C4C8F}" presName="spacer" presStyleCnt="0"/>
      <dgm:spPr/>
    </dgm:pt>
    <dgm:pt modelId="{BB66B6B2-F495-4727-AED0-5432A18C000C}" type="pres">
      <dgm:prSet presAssocID="{E9BCD13E-10BF-4ED3-9063-ED6743CC737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660AA03-C5EB-47E3-BF4E-3268F942AB79}" type="pres">
      <dgm:prSet presAssocID="{71AC8CBB-61A2-4403-942A-3D35E663F74C}" presName="spacer" presStyleCnt="0"/>
      <dgm:spPr/>
    </dgm:pt>
    <dgm:pt modelId="{A390364E-C4EB-46DB-B58B-4EFE70C98947}" type="pres">
      <dgm:prSet presAssocID="{330BADCA-7F6B-41F9-94F7-65FFA6F31FD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DDDF825-334A-48EF-B8F3-6B675314390A}" type="presOf" srcId="{84ACEEBD-4C7E-4B6F-B91B-470E06D68881}" destId="{EADD28E4-8597-4030-9D8D-F5A4BE3CBD9C}" srcOrd="0" destOrd="0" presId="urn:microsoft.com/office/officeart/2005/8/layout/vList2"/>
    <dgm:cxn modelId="{4D949166-1E30-4A09-AC8E-E5B8A64067F9}" srcId="{84ACEEBD-4C7E-4B6F-B91B-470E06D68881}" destId="{E9BCD13E-10BF-4ED3-9063-ED6743CC7375}" srcOrd="1" destOrd="0" parTransId="{CFA3BA5D-3E0B-4614-9184-160050D378A1}" sibTransId="{71AC8CBB-61A2-4403-942A-3D35E663F74C}"/>
    <dgm:cxn modelId="{CB0AA074-AA59-470F-98F1-A14A723F6519}" srcId="{84ACEEBD-4C7E-4B6F-B91B-470E06D68881}" destId="{7B11D027-C171-4729-A59C-526E4D873878}" srcOrd="0" destOrd="0" parTransId="{A51BE548-EFF3-43C3-9117-F2567FF35338}" sibTransId="{BF688089-B7E9-4B5B-ADE3-EB87417C4C8F}"/>
    <dgm:cxn modelId="{F7D74483-E9C8-42EF-A673-DE69BC31FED0}" type="presOf" srcId="{E9BCD13E-10BF-4ED3-9063-ED6743CC7375}" destId="{BB66B6B2-F495-4727-AED0-5432A18C000C}" srcOrd="0" destOrd="0" presId="urn:microsoft.com/office/officeart/2005/8/layout/vList2"/>
    <dgm:cxn modelId="{C4F295A2-9CA9-4291-A3B1-3C5FCC53BC80}" srcId="{84ACEEBD-4C7E-4B6F-B91B-470E06D68881}" destId="{330BADCA-7F6B-41F9-94F7-65FFA6F31FDE}" srcOrd="2" destOrd="0" parTransId="{CB577C8A-5E8A-42E3-B64F-C99F49CA6DEC}" sibTransId="{3EB940C2-769A-4EC8-AAF3-B74FBAE1B55C}"/>
    <dgm:cxn modelId="{D893C1B6-F11D-4F80-9B09-4C1D4643A08F}" type="presOf" srcId="{330BADCA-7F6B-41F9-94F7-65FFA6F31FDE}" destId="{A390364E-C4EB-46DB-B58B-4EFE70C98947}" srcOrd="0" destOrd="0" presId="urn:microsoft.com/office/officeart/2005/8/layout/vList2"/>
    <dgm:cxn modelId="{DE5707DA-6A52-4509-BAF2-CAA0EA0F0EC3}" type="presOf" srcId="{7B11D027-C171-4729-A59C-526E4D873878}" destId="{A3C00BA5-8E21-4202-BAFC-20B910F6FD5F}" srcOrd="0" destOrd="0" presId="urn:microsoft.com/office/officeart/2005/8/layout/vList2"/>
    <dgm:cxn modelId="{9E34A342-C583-4D6C-80E5-4B88072D1DF6}" type="presParOf" srcId="{EADD28E4-8597-4030-9D8D-F5A4BE3CBD9C}" destId="{A3C00BA5-8E21-4202-BAFC-20B910F6FD5F}" srcOrd="0" destOrd="0" presId="urn:microsoft.com/office/officeart/2005/8/layout/vList2"/>
    <dgm:cxn modelId="{A0EF120B-C436-4C93-B484-036850B9696C}" type="presParOf" srcId="{EADD28E4-8597-4030-9D8D-F5A4BE3CBD9C}" destId="{21CB0DFC-A4D1-4D59-8B4B-F24811C7FF20}" srcOrd="1" destOrd="0" presId="urn:microsoft.com/office/officeart/2005/8/layout/vList2"/>
    <dgm:cxn modelId="{5BF43838-389E-443B-BC36-53931E4ECD53}" type="presParOf" srcId="{EADD28E4-8597-4030-9D8D-F5A4BE3CBD9C}" destId="{BB66B6B2-F495-4727-AED0-5432A18C000C}" srcOrd="2" destOrd="0" presId="urn:microsoft.com/office/officeart/2005/8/layout/vList2"/>
    <dgm:cxn modelId="{D84B33BC-FF86-4386-9D9E-50BEA13F41C5}" type="presParOf" srcId="{EADD28E4-8597-4030-9D8D-F5A4BE3CBD9C}" destId="{5660AA03-C5EB-47E3-BF4E-3268F942AB79}" srcOrd="3" destOrd="0" presId="urn:microsoft.com/office/officeart/2005/8/layout/vList2"/>
    <dgm:cxn modelId="{C85E909D-5684-46B2-A83D-FC98B6E9CA75}" type="presParOf" srcId="{EADD28E4-8597-4030-9D8D-F5A4BE3CBD9C}" destId="{A390364E-C4EB-46DB-B58B-4EFE70C9894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FB91CC-4077-449D-830D-1CEF427D3455}">
      <dsp:nvSpPr>
        <dsp:cNvPr id="0" name=""/>
        <dsp:cNvSpPr/>
      </dsp:nvSpPr>
      <dsp:spPr>
        <a:xfrm>
          <a:off x="0" y="3490581"/>
          <a:ext cx="4435078" cy="114568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Reducing lead time helps organizations deliver value faster and increase customer satisfaction.</a:t>
          </a:r>
        </a:p>
      </dsp:txBody>
      <dsp:txXfrm>
        <a:off x="0" y="3490581"/>
        <a:ext cx="4435078" cy="1145686"/>
      </dsp:txXfrm>
    </dsp:sp>
    <dsp:sp modelId="{085106B1-C2D1-4525-8995-5FAF93248978}">
      <dsp:nvSpPr>
        <dsp:cNvPr id="0" name=""/>
        <dsp:cNvSpPr/>
      </dsp:nvSpPr>
      <dsp:spPr>
        <a:xfrm rot="10800000">
          <a:off x="0" y="1745700"/>
          <a:ext cx="4435078" cy="1762066"/>
        </a:xfrm>
        <a:prstGeom prst="upArrowCallout">
          <a:avLst/>
        </a:prstGeom>
        <a:gradFill rotWithShape="0">
          <a:gsLst>
            <a:gs pos="0">
              <a:schemeClr val="accent2">
                <a:hueOff val="-542947"/>
                <a:satOff val="20594"/>
                <a:lumOff val="-1127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542947"/>
                <a:satOff val="20594"/>
                <a:lumOff val="-1127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542947"/>
                <a:satOff val="20594"/>
                <a:lumOff val="-1127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Even if coding takes only a few hours, delays caused by approvals, testing queues, mismanagement or handoffs can make delivery take weeks or months.</a:t>
          </a:r>
        </a:p>
      </dsp:txBody>
      <dsp:txXfrm rot="10800000">
        <a:off x="0" y="1745700"/>
        <a:ext cx="4435078" cy="1144938"/>
      </dsp:txXfrm>
    </dsp:sp>
    <dsp:sp modelId="{B1A9D16D-5E1E-4C68-9FEC-FBB8015A80C9}">
      <dsp:nvSpPr>
        <dsp:cNvPr id="0" name=""/>
        <dsp:cNvSpPr/>
      </dsp:nvSpPr>
      <dsp:spPr>
        <a:xfrm rot="10800000">
          <a:off x="0" y="819"/>
          <a:ext cx="4435078" cy="1762066"/>
        </a:xfrm>
        <a:prstGeom prst="upArrowCallout">
          <a:avLst/>
        </a:prstGeom>
        <a:gradFill rotWithShape="0">
          <a:gsLst>
            <a:gs pos="0">
              <a:schemeClr val="accent2">
                <a:hueOff val="-1085893"/>
                <a:satOff val="41188"/>
                <a:lumOff val="-2254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085893"/>
                <a:satOff val="41188"/>
                <a:lumOff val="-2254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085893"/>
                <a:satOff val="41188"/>
                <a:lumOff val="-2254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Customers will need to wait for the entire lead time, not just process time.</a:t>
          </a:r>
        </a:p>
      </dsp:txBody>
      <dsp:txXfrm rot="10800000">
        <a:off x="0" y="819"/>
        <a:ext cx="4435078" cy="11449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094A79-8FDC-40F4-8F0E-C9D079888E9D}">
      <dsp:nvSpPr>
        <dsp:cNvPr id="0" name=""/>
        <dsp:cNvSpPr/>
      </dsp:nvSpPr>
      <dsp:spPr>
        <a:xfrm>
          <a:off x="438140" y="632769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22175A-6C23-4ABC-ABE6-974B366EAB83}">
      <dsp:nvSpPr>
        <dsp:cNvPr id="0" name=""/>
        <dsp:cNvSpPr/>
      </dsp:nvSpPr>
      <dsp:spPr>
        <a:xfrm>
          <a:off x="716015" y="910645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F1276-F373-4902-85AC-A7C925D77A45}">
      <dsp:nvSpPr>
        <dsp:cNvPr id="0" name=""/>
        <dsp:cNvSpPr/>
      </dsp:nvSpPr>
      <dsp:spPr>
        <a:xfrm>
          <a:off x="21327" y="2342770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Long deployment cycles increase team stress and risk of failure or financial loss during releases.</a:t>
          </a:r>
        </a:p>
      </dsp:txBody>
      <dsp:txXfrm>
        <a:off x="21327" y="2342770"/>
        <a:ext cx="2137500" cy="720000"/>
      </dsp:txXfrm>
    </dsp:sp>
    <dsp:sp modelId="{A966EF24-4D7A-4DEB-9712-B4E1C210B867}">
      <dsp:nvSpPr>
        <dsp:cNvPr id="0" name=""/>
        <dsp:cNvSpPr/>
      </dsp:nvSpPr>
      <dsp:spPr>
        <a:xfrm>
          <a:off x="2949702" y="632769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7D8D85-54F5-4AE3-95AC-2C282C52803E}">
      <dsp:nvSpPr>
        <dsp:cNvPr id="0" name=""/>
        <dsp:cNvSpPr/>
      </dsp:nvSpPr>
      <dsp:spPr>
        <a:xfrm>
          <a:off x="3227577" y="910645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501D09-B723-462B-AF2E-54FAE2D5ABCC}">
      <dsp:nvSpPr>
        <dsp:cNvPr id="0" name=""/>
        <dsp:cNvSpPr/>
      </dsp:nvSpPr>
      <dsp:spPr>
        <a:xfrm>
          <a:off x="2532890" y="2342770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Problems are harder to trace because changes are bundled together in larger releases.</a:t>
          </a:r>
        </a:p>
      </dsp:txBody>
      <dsp:txXfrm>
        <a:off x="2532890" y="2342770"/>
        <a:ext cx="2137500" cy="720000"/>
      </dsp:txXfrm>
    </dsp:sp>
    <dsp:sp modelId="{46B00166-305D-460B-8746-075EA6833C8A}">
      <dsp:nvSpPr>
        <dsp:cNvPr id="0" name=""/>
        <dsp:cNvSpPr/>
      </dsp:nvSpPr>
      <dsp:spPr>
        <a:xfrm>
          <a:off x="5461265" y="632769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2EFBC8-717C-46EB-8F86-109876747D8E}">
      <dsp:nvSpPr>
        <dsp:cNvPr id="0" name=""/>
        <dsp:cNvSpPr/>
      </dsp:nvSpPr>
      <dsp:spPr>
        <a:xfrm>
          <a:off x="5739140" y="910645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1F351-1938-4BC7-936A-126F5C07D998}">
      <dsp:nvSpPr>
        <dsp:cNvPr id="0" name=""/>
        <dsp:cNvSpPr/>
      </dsp:nvSpPr>
      <dsp:spPr>
        <a:xfrm>
          <a:off x="5044452" y="2342770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Customers wait longer for fixes and new features, which reduces overall satisfaction.</a:t>
          </a:r>
        </a:p>
      </dsp:txBody>
      <dsp:txXfrm>
        <a:off x="5044452" y="2342770"/>
        <a:ext cx="21375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56D95-DD25-4439-B44E-A95C4FB0137C}">
      <dsp:nvSpPr>
        <dsp:cNvPr id="0" name=""/>
        <dsp:cNvSpPr/>
      </dsp:nvSpPr>
      <dsp:spPr>
        <a:xfrm>
          <a:off x="0" y="451"/>
          <a:ext cx="7203281" cy="10556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E9879C-6B9A-4D14-A294-0ADEA41B3D7E}">
      <dsp:nvSpPr>
        <dsp:cNvPr id="0" name=""/>
        <dsp:cNvSpPr/>
      </dsp:nvSpPr>
      <dsp:spPr>
        <a:xfrm>
          <a:off x="319322" y="237963"/>
          <a:ext cx="580585" cy="5805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353E62-D433-459D-AA15-50EA7D755AE9}">
      <dsp:nvSpPr>
        <dsp:cNvPr id="0" name=""/>
        <dsp:cNvSpPr/>
      </dsp:nvSpPr>
      <dsp:spPr>
        <a:xfrm>
          <a:off x="1219230" y="451"/>
          <a:ext cx="5984050" cy="1055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719" tIns="111719" rIns="111719" bIns="11171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Deploying automation in the workflow increases deployment speed overall. It also reduces manual workloads and errors during testing and deployment.</a:t>
          </a:r>
        </a:p>
      </dsp:txBody>
      <dsp:txXfrm>
        <a:off x="1219230" y="451"/>
        <a:ext cx="5984050" cy="1055610"/>
      </dsp:txXfrm>
    </dsp:sp>
    <dsp:sp modelId="{76E3FBD3-35D7-4D38-8D02-FD7B4602E5DF}">
      <dsp:nvSpPr>
        <dsp:cNvPr id="0" name=""/>
        <dsp:cNvSpPr/>
      </dsp:nvSpPr>
      <dsp:spPr>
        <a:xfrm>
          <a:off x="0" y="1319964"/>
          <a:ext cx="7203281" cy="10556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1E42D9-9C76-4FA6-B017-AE871339740D}">
      <dsp:nvSpPr>
        <dsp:cNvPr id="0" name=""/>
        <dsp:cNvSpPr/>
      </dsp:nvSpPr>
      <dsp:spPr>
        <a:xfrm>
          <a:off x="319322" y="1557477"/>
          <a:ext cx="580585" cy="5805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E6CBC-E94C-4762-BCFE-4D03F36D7B95}">
      <dsp:nvSpPr>
        <dsp:cNvPr id="0" name=""/>
        <dsp:cNvSpPr/>
      </dsp:nvSpPr>
      <dsp:spPr>
        <a:xfrm>
          <a:off x="1219230" y="1319964"/>
          <a:ext cx="5984050" cy="1055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719" tIns="111719" rIns="111719" bIns="11171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Smaller batch sizes allow teams to get faster feedback and make more iterative updates.</a:t>
          </a:r>
        </a:p>
      </dsp:txBody>
      <dsp:txXfrm>
        <a:off x="1219230" y="1319964"/>
        <a:ext cx="5984050" cy="1055610"/>
      </dsp:txXfrm>
    </dsp:sp>
    <dsp:sp modelId="{6CDAA1A4-D825-4D4D-91A0-4DF18388533B}">
      <dsp:nvSpPr>
        <dsp:cNvPr id="0" name=""/>
        <dsp:cNvSpPr/>
      </dsp:nvSpPr>
      <dsp:spPr>
        <a:xfrm>
          <a:off x="0" y="2639478"/>
          <a:ext cx="7203281" cy="10556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A6BBCF-0226-4D5F-B5E7-FFE60D219E84}">
      <dsp:nvSpPr>
        <dsp:cNvPr id="0" name=""/>
        <dsp:cNvSpPr/>
      </dsp:nvSpPr>
      <dsp:spPr>
        <a:xfrm>
          <a:off x="319322" y="2876990"/>
          <a:ext cx="580585" cy="5805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C4432-1A96-4D9E-B500-957D29822E69}">
      <dsp:nvSpPr>
        <dsp:cNvPr id="0" name=""/>
        <dsp:cNvSpPr/>
      </dsp:nvSpPr>
      <dsp:spPr>
        <a:xfrm>
          <a:off x="1219230" y="2639478"/>
          <a:ext cx="5984050" cy="1055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719" tIns="111719" rIns="111719" bIns="11171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Collaboration between development and operations teams improves overall flow.</a:t>
          </a:r>
        </a:p>
      </dsp:txBody>
      <dsp:txXfrm>
        <a:off x="1219230" y="2639478"/>
        <a:ext cx="5984050" cy="10556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C00BA5-8E21-4202-BAFC-20B910F6FD5F}">
      <dsp:nvSpPr>
        <dsp:cNvPr id="0" name=""/>
        <dsp:cNvSpPr/>
      </dsp:nvSpPr>
      <dsp:spPr>
        <a:xfrm>
          <a:off x="0" y="213106"/>
          <a:ext cx="4435078" cy="136714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The technology value stream shows how ideas become working software.</a:t>
          </a:r>
        </a:p>
      </dsp:txBody>
      <dsp:txXfrm>
        <a:off x="66738" y="279844"/>
        <a:ext cx="4301602" cy="1233668"/>
      </dsp:txXfrm>
    </dsp:sp>
    <dsp:sp modelId="{BB66B6B2-F495-4727-AED0-5432A18C000C}">
      <dsp:nvSpPr>
        <dsp:cNvPr id="0" name=""/>
        <dsp:cNvSpPr/>
      </dsp:nvSpPr>
      <dsp:spPr>
        <a:xfrm>
          <a:off x="0" y="1634971"/>
          <a:ext cx="4435078" cy="1367144"/>
        </a:xfrm>
        <a:prstGeom prst="roundRect">
          <a:avLst/>
        </a:prstGeom>
        <a:gradFill rotWithShape="0">
          <a:gsLst>
            <a:gs pos="0">
              <a:schemeClr val="accent2">
                <a:hueOff val="-542947"/>
                <a:satOff val="20594"/>
                <a:lumOff val="-1127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542947"/>
                <a:satOff val="20594"/>
                <a:lumOff val="-1127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542947"/>
                <a:satOff val="20594"/>
                <a:lumOff val="-1127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Long lead times are common in traditional IT environments and development cycles.</a:t>
          </a:r>
        </a:p>
      </dsp:txBody>
      <dsp:txXfrm>
        <a:off x="66738" y="1701709"/>
        <a:ext cx="4301602" cy="1233668"/>
      </dsp:txXfrm>
    </dsp:sp>
    <dsp:sp modelId="{A390364E-C4EB-46DB-B58B-4EFE70C98947}">
      <dsp:nvSpPr>
        <dsp:cNvPr id="0" name=""/>
        <dsp:cNvSpPr/>
      </dsp:nvSpPr>
      <dsp:spPr>
        <a:xfrm>
          <a:off x="0" y="3056836"/>
          <a:ext cx="4435078" cy="1367144"/>
        </a:xfrm>
        <a:prstGeom prst="roundRect">
          <a:avLst/>
        </a:prstGeom>
        <a:gradFill rotWithShape="0">
          <a:gsLst>
            <a:gs pos="0">
              <a:schemeClr val="accent2">
                <a:hueOff val="-1085893"/>
                <a:satOff val="41188"/>
                <a:lumOff val="-2254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085893"/>
                <a:satOff val="41188"/>
                <a:lumOff val="-2254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085893"/>
                <a:satOff val="41188"/>
                <a:lumOff val="-2254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DevOps focuses on reducing delays and lead times so value reaches customers faster and teams work more efficiently overall.</a:t>
          </a:r>
        </a:p>
      </dsp:txBody>
      <dsp:txXfrm>
        <a:off x="66738" y="3123574"/>
        <a:ext cx="4301602" cy="12336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1327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135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684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437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52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195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28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9759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1541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7666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6947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1309" y="33037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8684" y="32930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3728" y="13173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1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385" y="638508"/>
            <a:ext cx="8179004" cy="4843439"/>
          </a:xfrm>
          <a:prstGeom prst="rect">
            <a:avLst/>
          </a:prstGeom>
          <a:gradFill rotWithShape="1">
            <a:gsLst>
              <a:gs pos="0">
                <a:sysClr val="windowText" lastClr="000000">
                  <a:lumMod val="85000"/>
                  <a:lumOff val="15000"/>
                </a:sysClr>
              </a:gs>
              <a:gs pos="100000">
                <a:sysClr val="windowText" lastClr="000000">
                  <a:lumMod val="95000"/>
                  <a:lumOff val="5000"/>
                </a:sysClr>
              </a:gs>
            </a:gsLst>
            <a:lin ang="5400000" scaled="0"/>
          </a:gradFill>
          <a:ln w="76200" cap="flat" cmpd="sng" algn="ctr">
            <a:noFill/>
            <a:prstDash val="solid"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rtlCol="0" anchor="ctr"/>
          <a:lstStyle/>
          <a:p>
            <a:pPr algn="ctr" defTabSz="914400"/>
            <a:endParaRPr lang="en-US" kern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539" y="865667"/>
            <a:ext cx="7838694" cy="4389120"/>
          </a:xfrm>
          <a:prstGeom prst="rect">
            <a:avLst/>
          </a:prstGeom>
          <a:gradFill rotWithShape="1"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ap="flat" cmpd="sng" algn="ctr">
            <a:solidFill>
              <a:srgbClr val="191919"/>
            </a:solidFill>
            <a:prstDash val="solid"/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rtlCol="0" anchor="ctr"/>
          <a:lstStyle/>
          <a:p>
            <a:pPr algn="ctr" defTabSz="914400"/>
            <a:endParaRPr lang="en-US" kern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5983" y="1030259"/>
            <a:ext cx="7591806" cy="4059936"/>
          </a:xfrm>
          <a:prstGeom prst="rect">
            <a:avLst/>
          </a:prstGeom>
          <a:solidFill>
            <a:srgbClr val="FFFFFE"/>
          </a:solidFill>
          <a:ln w="6350" cap="flat" cmpd="sng" algn="ctr">
            <a:solidFill>
              <a:srgbClr val="DCDCE0"/>
            </a:solidFill>
            <a:prstDash val="solid"/>
          </a:ln>
          <a:effectLst/>
        </p:spPr>
        <p:txBody>
          <a:bodyPr rtlCol="0" anchor="ctr"/>
          <a:lstStyle/>
          <a:p>
            <a:pPr algn="ctr" defTabSz="914400"/>
            <a:endParaRPr lang="en-US" kern="0">
              <a:solidFill>
                <a:prstClr val="white"/>
              </a:solidFill>
              <a:latin typeface="Century Gothic" panose="020B0502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666" y="1584552"/>
            <a:ext cx="6824441" cy="2537251"/>
          </a:xfrm>
        </p:spPr>
        <p:txBody>
          <a:bodyPr anchor="ctr">
            <a:normAutofit/>
          </a:bodyPr>
          <a:lstStyle/>
          <a:p>
            <a:pPr algn="ctr"/>
            <a:r>
              <a:rPr lang="en-US" sz="6500" dirty="0">
                <a:solidFill>
                  <a:srgbClr val="454545"/>
                </a:solidFill>
              </a:rPr>
              <a:t>The Technology Value Stream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1529" y="3752850"/>
            <a:ext cx="6840715" cy="1124757"/>
          </a:xfrm>
        </p:spPr>
        <p:txBody>
          <a:bodyPr>
            <a:normAutofit fontScale="92500" lnSpcReduction="10000"/>
          </a:bodyPr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chemeClr val="accent1"/>
                </a:solidFill>
              </a:rPr>
              <a:t>CSD380-H307 DevOps</a:t>
            </a:r>
          </a:p>
          <a:p>
            <a:pPr algn="ctr">
              <a:lnSpc>
                <a:spcPct val="110000"/>
              </a:lnSpc>
            </a:pPr>
            <a:r>
              <a:rPr lang="en-US" dirty="0">
                <a:solidFill>
                  <a:schemeClr val="accent1"/>
                </a:solidFill>
              </a:rPr>
              <a:t>Module 1.2</a:t>
            </a:r>
          </a:p>
          <a:p>
            <a:pPr algn="ctr">
              <a:lnSpc>
                <a:spcPct val="110000"/>
              </a:lnSpc>
            </a:pPr>
            <a:r>
              <a:rPr lang="en-US" dirty="0">
                <a:solidFill>
                  <a:schemeClr val="accent1"/>
                </a:solidFill>
              </a:rPr>
              <a:t>Daniel Graham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1EDE8358-DCAB-4435-B043-58877C674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914400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Understanding the Technology Value 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The technology value stream describes every step required to turn an idea into working software.</a:t>
            </a:r>
          </a:p>
          <a:p>
            <a:r>
              <a:rPr dirty="0"/>
              <a:t>It includes planning, coding, testing, deploying, and supporting applications in production.</a:t>
            </a:r>
          </a:p>
          <a:p>
            <a:r>
              <a:rPr dirty="0"/>
              <a:t>DevOps focuses on improving how smoothly</a:t>
            </a:r>
            <a:r>
              <a:rPr lang="en-US" dirty="0"/>
              <a:t> and quickly</a:t>
            </a:r>
            <a:r>
              <a:rPr dirty="0"/>
              <a:t> work moves through this entire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02" y="953324"/>
            <a:ext cx="7202456" cy="1049235"/>
          </a:xfrm>
        </p:spPr>
        <p:txBody>
          <a:bodyPr>
            <a:normAutofit/>
          </a:bodyPr>
          <a:lstStyle/>
          <a:p>
            <a:r>
              <a:rPr dirty="0"/>
              <a:t>Lead Time and Process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7702" y="2158175"/>
            <a:ext cx="3119137" cy="330817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300" dirty="0"/>
              <a:t>Lead time is the entire timeframe from when work is requested until it is finished and delivered to the customer.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Process time starts when actual hands-on time is spent working on the task and ends when it is finished.</a:t>
            </a:r>
          </a:p>
          <a:p>
            <a:pPr>
              <a:lnSpc>
                <a:spcPct val="110000"/>
              </a:lnSpc>
            </a:pPr>
            <a:r>
              <a:rPr lang="en-US" sz="1300" dirty="0"/>
              <a:t>In many organizations, lead time is much longer than process time overall. (Kim et al., 2016).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665F15-BCDE-4C3D-9271-60A47B769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41385" y="2158175"/>
            <a:ext cx="3711494" cy="3308170"/>
            <a:chOff x="7807230" y="2012810"/>
            <a:chExt cx="3251252" cy="34598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BCBA3EE-1F46-4F3C-BADE-22FA0B248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CC73E9-1291-40B8-A3E7-C8B009D28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rgbClr val="FFFFFE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9B48820-9741-F167-0550-C5FC3D90D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930" y="3106013"/>
            <a:ext cx="3460404" cy="14014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545E06B-29C0-4F08-9F61-140CD1A7A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E54A31-B091-4774-BDD5-9F726783E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rPr dirty="0"/>
              <a:t>Why Lead Time Matters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4E0E46-9D8A-46BA-8EF9-FC43A7EE7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565909D0-D2D2-46A8-8332-49E6173A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3D2EAFB-E46A-4A8C-9E83-AF5286317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AFEA4BCF-1CF9-4959-A2D8-A97926D25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9144000" cy="74295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E2A3DA-DA10-0B62-94B7-DBFFCF1C54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3690212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Common Scenario: Long Deployment Lead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Traditional IT environments often require months to deploy changes.</a:t>
            </a:r>
          </a:p>
          <a:p>
            <a:r>
              <a:rPr dirty="0"/>
              <a:t>This usually happens due to large releas</a:t>
            </a:r>
            <a:r>
              <a:rPr lang="en-US" dirty="0"/>
              <a:t>e schedules</a:t>
            </a:r>
            <a:r>
              <a:rPr dirty="0"/>
              <a:t>, manual testing</a:t>
            </a:r>
            <a:r>
              <a:rPr lang="en-US" dirty="0"/>
              <a:t> of releases</a:t>
            </a:r>
            <a:r>
              <a:rPr dirty="0"/>
              <a:t>, and teams working in silos.</a:t>
            </a:r>
          </a:p>
          <a:p>
            <a:r>
              <a:rPr dirty="0"/>
              <a:t>Most of the delay comes from waiting, not from actual development work (Kim et al., 2016).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F2B985F-E839-44D5-9DD8-BC9DEE343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02" y="953324"/>
            <a:ext cx="7202456" cy="1049235"/>
          </a:xfrm>
        </p:spPr>
        <p:txBody>
          <a:bodyPr>
            <a:normAutofit/>
          </a:bodyPr>
          <a:lstStyle/>
          <a:p>
            <a:r>
              <a:t>Challenges Created by Long Lead Times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D73AC3-7DF7-43FB-9D67-3CE387E94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48155" y="1996645"/>
            <a:ext cx="720245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965CCFE-3123-4C5E-BA80-B081F41E6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BD86E3-CC75-D630-EF56-E40EB4D979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455523"/>
              </p:ext>
            </p:extLst>
          </p:nvPr>
        </p:nvGraphicFramePr>
        <p:xfrm>
          <a:off x="847702" y="2502076"/>
          <a:ext cx="7203281" cy="3695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DevOps Ideal: Fast and Frequent Deployments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DevOps aims to reduce deployment lead times to minutes or hours instead of months.</a:t>
            </a:r>
          </a:p>
          <a:p>
            <a:r>
              <a:rPr dirty="0"/>
              <a:t>Small changes are released more frequently</a:t>
            </a:r>
            <a:r>
              <a:rPr lang="en-US" dirty="0"/>
              <a:t> and iteratively,</a:t>
            </a:r>
            <a:r>
              <a:rPr dirty="0"/>
              <a:t> making problems easier to identify and fix</a:t>
            </a:r>
            <a:r>
              <a:rPr lang="en-US" dirty="0"/>
              <a:t> quickly.</a:t>
            </a:r>
            <a:endParaRPr dirty="0"/>
          </a:p>
          <a:p>
            <a:r>
              <a:rPr dirty="0"/>
              <a:t>Automation plays a key role in making this possible (Kim et al., 2016).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F2B985F-E839-44D5-9DD8-BC9DEE343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02" y="953324"/>
            <a:ext cx="7202456" cy="1049235"/>
          </a:xfrm>
        </p:spPr>
        <p:txBody>
          <a:bodyPr>
            <a:normAutofit/>
          </a:bodyPr>
          <a:lstStyle/>
          <a:p>
            <a:r>
              <a:rPr dirty="0"/>
              <a:t>How DevOps Improves the Value Stream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D73AC3-7DF7-43FB-9D67-3CE387E94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48155" y="1996645"/>
            <a:ext cx="720245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965CCFE-3123-4C5E-BA80-B081F41E6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03A01C-56BD-C4D2-8AE8-39219BC3DE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9127468"/>
              </p:ext>
            </p:extLst>
          </p:nvPr>
        </p:nvGraphicFramePr>
        <p:xfrm>
          <a:off x="847702" y="2502076"/>
          <a:ext cx="7203281" cy="3695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Traditional vs. DevOps Deployment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47900"/>
            <a:ext cx="36576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Traditional Deployment</a:t>
            </a:r>
          </a:p>
          <a:p>
            <a:r>
              <a:rPr dirty="0"/>
              <a:t>• Large releases</a:t>
            </a:r>
          </a:p>
          <a:p>
            <a:r>
              <a:rPr dirty="0"/>
              <a:t>• Long waits</a:t>
            </a:r>
          </a:p>
          <a:p>
            <a:r>
              <a:rPr dirty="0"/>
              <a:t>• Manual steps</a:t>
            </a:r>
          </a:p>
          <a:p>
            <a:r>
              <a:rPr dirty="0"/>
              <a:t>• Months to deploy</a:t>
            </a:r>
          </a:p>
        </p:txBody>
      </p:sp>
      <p:sp>
        <p:nvSpPr>
          <p:cNvPr id="4" name="Rectangle 3"/>
          <p:cNvSpPr/>
          <p:nvPr/>
        </p:nvSpPr>
        <p:spPr>
          <a:xfrm>
            <a:off x="4864100" y="4530228"/>
            <a:ext cx="36576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DevOps Deployment</a:t>
            </a:r>
          </a:p>
          <a:p>
            <a:r>
              <a:rPr dirty="0"/>
              <a:t>• Small changes</a:t>
            </a:r>
          </a:p>
          <a:p>
            <a:r>
              <a:rPr dirty="0"/>
              <a:t>• Automation</a:t>
            </a:r>
          </a:p>
          <a:p>
            <a:r>
              <a:rPr dirty="0"/>
              <a:t>• Fast feedback</a:t>
            </a:r>
          </a:p>
          <a:p>
            <a:r>
              <a:rPr dirty="0"/>
              <a:t>• Minutes to deploy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7EF2099-1FA0-736C-5766-A4EBB566BB3D}"/>
              </a:ext>
            </a:extLst>
          </p:cNvPr>
          <p:cNvCxnSpPr>
            <a:cxnSpLocks/>
          </p:cNvCxnSpPr>
          <p:nvPr/>
        </p:nvCxnSpPr>
        <p:spPr>
          <a:xfrm>
            <a:off x="3600450" y="3619500"/>
            <a:ext cx="1263650" cy="910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Agile vs. Traditional Development |Professionalqa.com">
            <a:extLst>
              <a:ext uri="{FF2B5EF4-FFF2-40B4-BE49-F238E27FC236}">
                <a16:creationId xmlns:a16="http://schemas.microsoft.com/office/drawing/2014/main" id="{C7433BFA-082D-5730-220C-213794C1F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900" y="1742333"/>
            <a:ext cx="3606800" cy="2140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DLC vs DevOps. Two methodologies in ...">
            <a:extLst>
              <a:ext uri="{FF2B5EF4-FFF2-40B4-BE49-F238E27FC236}">
                <a16:creationId xmlns:a16="http://schemas.microsoft.com/office/drawing/2014/main" id="{D5A2DBD2-97BC-2E05-18AE-61506099C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4234953"/>
            <a:ext cx="27432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545E06B-29C0-4F08-9F61-140CD1A7A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E54A31-B091-4774-BDD5-9F726783E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rPr dirty="0"/>
              <a:t>Key Takeaways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4E0E46-9D8A-46BA-8EF9-FC43A7EE7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565909D0-D2D2-46A8-8332-49E6173A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3D2EAFB-E46A-4A8C-9E83-AF5286317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AFEA4BCF-1CF9-4959-A2D8-A97926D25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9144000" cy="74295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AD5280-A88B-ACDE-8EAA-6213E02A9F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0535155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684" y="2167385"/>
            <a:ext cx="6571343" cy="1941065"/>
          </a:xfrm>
        </p:spPr>
        <p:txBody>
          <a:bodyPr/>
          <a:lstStyle/>
          <a:p>
            <a:r>
              <a:rPr dirty="0"/>
              <a:t>The DevOps Handbook: How to create world-class agility, reliability, and security in technology organizations (2nd ed.). IT Revolution Press.</a:t>
            </a:r>
            <a:r>
              <a:rPr lang="en-US" dirty="0"/>
              <a:t> Kim, G., Humble, J., Debois, P., Willis, J., &amp; </a:t>
            </a:r>
            <a:r>
              <a:rPr lang="en-US" dirty="0" err="1"/>
              <a:t>Allspaw</a:t>
            </a:r>
            <a:r>
              <a:rPr lang="en-US" dirty="0"/>
              <a:t>, J. (2016).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04B663"/>
      </a:accent4>
      <a:accent5>
        <a:srgbClr val="DF8822"/>
      </a:accent5>
      <a:accent6>
        <a:srgbClr val="BC410A"/>
      </a:accent6>
      <a:hlink>
        <a:srgbClr val="5977C4"/>
      </a:hlink>
      <a:folHlink>
        <a:srgbClr val="0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42</TotalTime>
  <Words>540</Words>
  <Application>Microsoft Office PowerPoint</Application>
  <PresentationFormat>On-screen Show (4:3)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Gallery</vt:lpstr>
      <vt:lpstr>The Technology Value Stream</vt:lpstr>
      <vt:lpstr>Understanding the Technology Value Stream</vt:lpstr>
      <vt:lpstr>Lead Time and Process Time</vt:lpstr>
      <vt:lpstr>Why Lead Time Matters</vt:lpstr>
      <vt:lpstr>The Common Scenario: Long Deployment Lead Times</vt:lpstr>
      <vt:lpstr>Challenges Created by Long Lead Times</vt:lpstr>
      <vt:lpstr>The DevOps Ideal: Fast and Frequent Deployments</vt:lpstr>
      <vt:lpstr>How DevOps Improves the Value Stream</vt:lpstr>
      <vt:lpstr>Traditional vs. DevOps Deployment Flow</vt:lpstr>
      <vt:lpstr>Key Takeaways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Graham</cp:lastModifiedBy>
  <cp:revision>2</cp:revision>
  <dcterms:created xsi:type="dcterms:W3CDTF">2013-01-27T09:14:16Z</dcterms:created>
  <dcterms:modified xsi:type="dcterms:W3CDTF">2026-01-18T19:47:57Z</dcterms:modified>
  <cp:category/>
</cp:coreProperties>
</file>